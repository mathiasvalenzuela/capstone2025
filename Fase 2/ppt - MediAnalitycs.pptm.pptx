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Play"/>
      <p:regular r:id="rId16"/>
      <p:bold r:id="rId17"/>
    </p:embeddedFont>
    <p:embeddedFont>
      <p:font typeface="Merriweather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141ABED-28F5-4FCC-B9B9-B906458F227E}">
  <a:tblStyle styleId="{1141ABED-28F5-4FCC-B9B9-B906458F227E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Merriweather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bold.fntdata"/><Relationship Id="rId6" Type="http://schemas.openxmlformats.org/officeDocument/2006/relationships/slide" Target="slides/slide1.xml"/><Relationship Id="rId18" Type="http://schemas.openxmlformats.org/officeDocument/2006/relationships/font" Target="fonts/Merriweath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Obviamente explicar detalladamente cada una.</a:t>
            </a:r>
            <a:endParaRPr/>
          </a:p>
        </p:txBody>
      </p:sp>
      <p:sp>
        <p:nvSpPr>
          <p:cNvPr id="106" name="Google Shape;10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67557c6b36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https://www.iconfinder.com/search?q=find&amp;price=free</a:t>
            </a:r>
            <a:endParaRPr/>
          </a:p>
        </p:txBody>
      </p:sp>
      <p:sp>
        <p:nvSpPr>
          <p:cNvPr id="134" name="Google Shape;134;g367557c6b36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76bacea0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https://www.iconfinder.com/search?q=find&amp;price=free</a:t>
            </a:r>
            <a:endParaRPr/>
          </a:p>
        </p:txBody>
      </p:sp>
      <p:sp>
        <p:nvSpPr>
          <p:cNvPr id="150" name="Google Shape;150;g3676bacea0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676bacea04_0_4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https://www.iconfinder.com/search?q=find&amp;price=free</a:t>
            </a:r>
            <a:endParaRPr/>
          </a:p>
        </p:txBody>
      </p:sp>
      <p:sp>
        <p:nvSpPr>
          <p:cNvPr id="183" name="Google Shape;183;g3676bacea04_0_4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67557c6b36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https://www.iconfinder.com/search?q=find&amp;price=free</a:t>
            </a:r>
            <a:endParaRPr/>
          </a:p>
        </p:txBody>
      </p:sp>
      <p:sp>
        <p:nvSpPr>
          <p:cNvPr id="197" name="Google Shape;197;g367557c6b36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676bacea04_0_5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https://www.iconfinder.com/search?q=find&amp;price=free</a:t>
            </a:r>
            <a:endParaRPr/>
          </a:p>
        </p:txBody>
      </p:sp>
      <p:sp>
        <p:nvSpPr>
          <p:cNvPr id="203" name="Google Shape;203;g3676bacea04_0_5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676bacea04_2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https://www.iconfinder.com/search?q=find&amp;price=free</a:t>
            </a:r>
            <a:endParaRPr/>
          </a:p>
        </p:txBody>
      </p:sp>
      <p:sp>
        <p:nvSpPr>
          <p:cNvPr id="210" name="Google Shape;210;g3676bacea04_2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showMasterSp="0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showMasterSp="0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showMasterSp="0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showMasterSp="0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showMasterSp="0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showMasterSp="0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showMasterSp="0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showMasterSp="0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showMasterSp="0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showMasterSp="0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7.png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8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6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16.png"/><Relationship Id="rId7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6.png"/><Relationship Id="rId4" Type="http://schemas.openxmlformats.org/officeDocument/2006/relationships/image" Target="../media/image33.png"/><Relationship Id="rId10" Type="http://schemas.openxmlformats.org/officeDocument/2006/relationships/image" Target="../media/image24.png"/><Relationship Id="rId9" Type="http://schemas.openxmlformats.org/officeDocument/2006/relationships/image" Target="../media/image27.png"/><Relationship Id="rId5" Type="http://schemas.openxmlformats.org/officeDocument/2006/relationships/image" Target="../media/image17.png"/><Relationship Id="rId6" Type="http://schemas.openxmlformats.org/officeDocument/2006/relationships/image" Target="../media/image28.png"/><Relationship Id="rId7" Type="http://schemas.openxmlformats.org/officeDocument/2006/relationships/image" Target="../media/image20.png"/><Relationship Id="rId8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png"/><Relationship Id="rId4" Type="http://schemas.openxmlformats.org/officeDocument/2006/relationships/image" Target="../media/image26.png"/><Relationship Id="rId9" Type="http://schemas.openxmlformats.org/officeDocument/2006/relationships/image" Target="../media/image25.png"/><Relationship Id="rId5" Type="http://schemas.openxmlformats.org/officeDocument/2006/relationships/image" Target="../media/image29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3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0" y="-46383"/>
            <a:ext cx="5683250" cy="6970643"/>
          </a:xfrm>
          <a:prstGeom prst="rect">
            <a:avLst/>
          </a:prstGeom>
          <a:gradFill>
            <a:gsLst>
              <a:gs pos="0">
                <a:srgbClr val="07384F"/>
              </a:gs>
              <a:gs pos="50000">
                <a:srgbClr val="0A5272"/>
              </a:gs>
              <a:gs pos="100000">
                <a:srgbClr val="0C638A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200025" y="2161437"/>
            <a:ext cx="5283300" cy="30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3700" u="none" cap="none" strike="noStrike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rPr>
              <a:t>Sistema Inteligente de Priorización de Pacientes</a:t>
            </a:r>
            <a:endParaRPr/>
          </a:p>
        </p:txBody>
      </p:sp>
      <p:pic>
        <p:nvPicPr>
          <p:cNvPr descr="Interfaz de usuario gráfica, Aplicación&#10;&#10;El contenido generado por IA puede ser incorrecto."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3325" y="1118732"/>
            <a:ext cx="7054310" cy="482318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384225" y="4108956"/>
            <a:ext cx="4914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MX" sz="1200" u="none" cap="none" strike="noStrike">
                <a:solidFill>
                  <a:srgbClr val="D8D8D8"/>
                </a:solidFill>
                <a:latin typeface="Aharoni"/>
                <a:ea typeface="Aharoni"/>
                <a:cs typeface="Aharoni"/>
                <a:sym typeface="Aharoni"/>
              </a:rPr>
              <a:t>Convertimos datos clínicos en decisiones estratégicas para hospitales públicos, priorizando a los pacientes más vulnerables y optimizando el uso de recursos limitados.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200" u="none" cap="none" strike="noStrike">
              <a:solidFill>
                <a:srgbClr val="D8D8D8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200" u="none" cap="none" strike="noStrike">
              <a:solidFill>
                <a:srgbClr val="D8D8D8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MX" sz="1200" u="none" cap="none" strike="noStrike">
                <a:solidFill>
                  <a:srgbClr val="D8D8D8"/>
                </a:solidFill>
                <a:latin typeface="Aharoni"/>
                <a:ea typeface="Aharoni"/>
                <a:cs typeface="Aharoni"/>
                <a:sym typeface="Aharoni"/>
              </a:rPr>
              <a:t>Datos que salvan vidas. Decisiones que hacen la diferencia.</a:t>
            </a:r>
            <a:endParaRPr b="0" i="1" sz="1200" u="none" cap="none" strike="noStrike">
              <a:solidFill>
                <a:srgbClr val="D8D8D8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200025" y="5817078"/>
            <a:ext cx="34798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200"/>
              <a:buFont typeface="Arial"/>
              <a:buChar char="•"/>
            </a:pPr>
            <a:r>
              <a:rPr b="0" i="0" lang="es-MX" sz="1200" u="none" cap="none" strike="noStrike">
                <a:solidFill>
                  <a:srgbClr val="D8D8D8"/>
                </a:solidFill>
                <a:latin typeface="Aharoni"/>
                <a:ea typeface="Aharoni"/>
                <a:cs typeface="Aharoni"/>
                <a:sym typeface="Aharoni"/>
              </a:rPr>
              <a:t>María Celeste Vera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200"/>
              <a:buFont typeface="Arial"/>
              <a:buChar char="•"/>
            </a:pPr>
            <a:r>
              <a:rPr b="0" i="0" lang="es-MX" sz="1200" u="none" cap="none" strike="noStrike">
                <a:solidFill>
                  <a:srgbClr val="D8D8D8"/>
                </a:solidFill>
                <a:latin typeface="Aharoni"/>
                <a:ea typeface="Aharoni"/>
                <a:cs typeface="Aharoni"/>
                <a:sym typeface="Aharoni"/>
              </a:rPr>
              <a:t>Kenyon Bustamante Ojeda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200"/>
              <a:buFont typeface="Arial"/>
              <a:buChar char="•"/>
            </a:pPr>
            <a:r>
              <a:rPr b="0" i="0" lang="es-MX" sz="1200" u="none" cap="none" strike="noStrike">
                <a:solidFill>
                  <a:srgbClr val="D8D8D8"/>
                </a:solidFill>
                <a:latin typeface="Aharoni"/>
                <a:ea typeface="Aharoni"/>
                <a:cs typeface="Aharoni"/>
                <a:sym typeface="Aharoni"/>
              </a:rPr>
              <a:t>Mathias Valenzuela Alonso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3" title="Logo final.png"/>
          <p:cNvPicPr preferRelativeResize="0"/>
          <p:nvPr/>
        </p:nvPicPr>
        <p:blipFill rotWithShape="1">
          <a:blip r:embed="rId4">
            <a:alphaModFix/>
          </a:blip>
          <a:srcRect b="29458" l="0" r="0" t="28607"/>
          <a:stretch/>
        </p:blipFill>
        <p:spPr>
          <a:xfrm>
            <a:off x="690175" y="732150"/>
            <a:ext cx="4302999" cy="1804375"/>
          </a:xfrm>
          <a:prstGeom prst="rect">
            <a:avLst/>
          </a:prstGeom>
          <a:noFill/>
          <a:ln>
            <a:noFill/>
          </a:ln>
          <a:effectLst>
            <a:outerShdw blurRad="157163" rotWithShape="0" algn="bl" dir="3000000" dist="47625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384F"/>
              </a:gs>
              <a:gs pos="50000">
                <a:srgbClr val="0A5272"/>
              </a:gs>
              <a:gs pos="100000">
                <a:srgbClr val="0C638A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6500135" y="394197"/>
            <a:ext cx="4537500" cy="7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700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rPr>
              <a:t>Contextualización</a:t>
            </a:r>
            <a:endParaRPr sz="3700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5953075" y="1729373"/>
            <a:ext cx="56316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100">
                <a:solidFill>
                  <a:srgbClr val="F2F2F2"/>
                </a:solidFill>
              </a:rPr>
              <a:t>En el panorama actual de la salud pública en Chile, y específicamente en el hospital Dr Luis Calvo Mackenna, enfrentamos un desafío crítico en la gestión de pacientes. </a:t>
            </a:r>
            <a:endParaRPr sz="1700"/>
          </a:p>
        </p:txBody>
      </p:sp>
      <p:pic>
        <p:nvPicPr>
          <p:cNvPr descr="Hospital Dr. Luis Calvo Mackenna - Wikipedia, la enciclopedia libre" id="101" name="Google Shape;101;p14"/>
          <p:cNvPicPr preferRelativeResize="0"/>
          <p:nvPr/>
        </p:nvPicPr>
        <p:blipFill rotWithShape="1">
          <a:blip r:embed="rId3">
            <a:alphaModFix/>
          </a:blip>
          <a:srcRect b="0" l="15213" r="0" t="0"/>
          <a:stretch/>
        </p:blipFill>
        <p:spPr>
          <a:xfrm>
            <a:off x="0" y="1"/>
            <a:ext cx="5267739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3500" y="3504400"/>
            <a:ext cx="4350749" cy="29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384F"/>
              </a:gs>
              <a:gs pos="50000">
                <a:srgbClr val="0A5272"/>
              </a:gs>
              <a:gs pos="100000">
                <a:srgbClr val="0C638A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orma&#10;&#10;El contenido generado por IA puede ser incorrecto." id="109" name="Google Shape;109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57" y="189788"/>
            <a:ext cx="782860" cy="782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4104" y="0"/>
            <a:ext cx="4697896" cy="686793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/>
          <p:nvPr/>
        </p:nvSpPr>
        <p:spPr>
          <a:xfrm>
            <a:off x="1703419" y="406817"/>
            <a:ext cx="4537628" cy="7538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rPr>
              <a:t>Desafío Actual</a:t>
            </a:r>
            <a:endParaRPr sz="3145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1163600" y="1376650"/>
            <a:ext cx="6096000" cy="13989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Listas de espera prolongadas</a:t>
            </a:r>
            <a:r>
              <a:rPr lang="es-MX" sz="16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600">
                <a:solidFill>
                  <a:srgbClr val="F2F2F2"/>
                </a:solidFill>
              </a:rPr>
              <a:t>Muchos usuarios deben esperar </a:t>
            </a:r>
            <a:r>
              <a:rPr b="1" lang="es-MX" sz="1600">
                <a:solidFill>
                  <a:srgbClr val="F2F2F2"/>
                </a:solidFill>
              </a:rPr>
              <a:t>meses o incluso años</a:t>
            </a:r>
            <a:r>
              <a:rPr lang="es-MX" sz="1600">
                <a:solidFill>
                  <a:srgbClr val="F2F2F2"/>
                </a:solidFill>
              </a:rPr>
              <a:t> para acceder a una consulta, examen o intervención quirúrgica.</a:t>
            </a:r>
            <a:endParaRPr sz="1600">
              <a:solidFill>
                <a:srgbClr val="F2F2F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rgbClr val="F2F2F2"/>
                </a:solidFill>
              </a:rPr>
              <a:t>Esta demora genera </a:t>
            </a:r>
            <a:r>
              <a:rPr b="1" lang="es-MX" sz="1600">
                <a:solidFill>
                  <a:srgbClr val="F2F2F2"/>
                </a:solidFill>
              </a:rPr>
              <a:t>frustración y ansiedad</a:t>
            </a:r>
            <a:r>
              <a:rPr lang="es-MX" sz="1600">
                <a:solidFill>
                  <a:srgbClr val="F2F2F2"/>
                </a:solidFill>
              </a:rPr>
              <a:t>, y puede provocar un </a:t>
            </a:r>
            <a:r>
              <a:rPr b="1" lang="es-MX" sz="1600">
                <a:solidFill>
                  <a:srgbClr val="F2F2F2"/>
                </a:solidFill>
              </a:rPr>
              <a:t>deterioro progresivo en el estado de salud</a:t>
            </a:r>
            <a:r>
              <a:rPr lang="es-MX" sz="1600">
                <a:solidFill>
                  <a:srgbClr val="F2F2F2"/>
                </a:solidFill>
              </a:rPr>
              <a:t> del paciente.</a:t>
            </a:r>
            <a:endParaRPr sz="2100">
              <a:solidFill>
                <a:srgbClr val="F2F2F2"/>
              </a:solidFill>
            </a:endParaRPr>
          </a:p>
        </p:txBody>
      </p:sp>
      <p:pic>
        <p:nvPicPr>
          <p:cNvPr descr="Icono&#10;&#10;El contenido generado por IA puede ser incorrecto." id="113" name="Google Shape;11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070" y="1511305"/>
            <a:ext cx="9906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/>
          <p:nvPr/>
        </p:nvSpPr>
        <p:spPr>
          <a:xfrm>
            <a:off x="1163600" y="2991524"/>
            <a:ext cx="6096000" cy="15558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Riesgo de deterioro clínico: 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rgbClr val="F2F2F2"/>
                </a:solidFill>
              </a:rPr>
              <a:t>La consecuencia más grave de las largas esperas es el </a:t>
            </a:r>
            <a:r>
              <a:rPr b="1" lang="es-MX" sz="1600">
                <a:solidFill>
                  <a:srgbClr val="F2F2F2"/>
                </a:solidFill>
              </a:rPr>
              <a:t>empeoramiento de la salud del paciente</a:t>
            </a:r>
            <a:r>
              <a:rPr lang="es-MX" sz="1600">
                <a:solidFill>
                  <a:srgbClr val="F2F2F2"/>
                </a:solidFill>
              </a:rPr>
              <a:t>.</a:t>
            </a:r>
            <a:br>
              <a:rPr lang="es-MX" sz="1600">
                <a:solidFill>
                  <a:srgbClr val="F2F2F2"/>
                </a:solidFill>
              </a:rPr>
            </a:br>
            <a:r>
              <a:rPr lang="es-MX" sz="1600">
                <a:solidFill>
                  <a:srgbClr val="F2F2F2"/>
                </a:solidFill>
              </a:rPr>
              <a:t> Condiciones inicialmente tratables pueden volverse complejas, lo que </a:t>
            </a:r>
            <a:r>
              <a:rPr b="1" lang="es-MX" sz="1600">
                <a:solidFill>
                  <a:srgbClr val="F2F2F2"/>
                </a:solidFill>
              </a:rPr>
              <a:t>aumenta los costos</a:t>
            </a:r>
            <a:r>
              <a:rPr lang="es-MX" sz="1600">
                <a:solidFill>
                  <a:srgbClr val="F2F2F2"/>
                </a:solidFill>
              </a:rPr>
              <a:t> y la </a:t>
            </a:r>
            <a:r>
              <a:rPr b="1" lang="es-MX" sz="1600">
                <a:solidFill>
                  <a:srgbClr val="F2F2F2"/>
                </a:solidFill>
              </a:rPr>
              <a:t>sobrecarga del sistema de salud</a:t>
            </a:r>
            <a:r>
              <a:rPr lang="es-MX" sz="1600">
                <a:solidFill>
                  <a:srgbClr val="F2F2F2"/>
                </a:solidFill>
              </a:rPr>
              <a:t>.</a:t>
            </a:r>
            <a:endParaRPr sz="1600">
              <a:solidFill>
                <a:srgbClr val="F2F2F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2F2F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o&#10;&#10;El contenido generado por IA puede ser incorrecto." id="115" name="Google Shape;11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5775" y="3124204"/>
            <a:ext cx="834015" cy="83401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/>
          <p:nvPr/>
        </p:nvSpPr>
        <p:spPr>
          <a:xfrm>
            <a:off x="1163600" y="4704578"/>
            <a:ext cx="6096000" cy="16614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Asignación Ineficiente de Recursos: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600">
                <a:solidFill>
                  <a:srgbClr val="F2F2F2"/>
                </a:solidFill>
              </a:rPr>
              <a:t>La </a:t>
            </a:r>
            <a:r>
              <a:rPr b="1" lang="es-MX" sz="1600">
                <a:solidFill>
                  <a:srgbClr val="F2F2F2"/>
                </a:solidFill>
              </a:rPr>
              <a:t>escasez de personal médico</a:t>
            </a:r>
            <a:r>
              <a:rPr lang="es-MX" sz="1600">
                <a:solidFill>
                  <a:srgbClr val="F2F2F2"/>
                </a:solidFill>
              </a:rPr>
              <a:t> y las </a:t>
            </a:r>
            <a:r>
              <a:rPr b="1" lang="es-MX" sz="1600">
                <a:solidFill>
                  <a:srgbClr val="F2F2F2"/>
                </a:solidFill>
              </a:rPr>
              <a:t>restricciones presupuestarias</a:t>
            </a:r>
            <a:r>
              <a:rPr lang="es-MX" sz="1600">
                <a:solidFill>
                  <a:srgbClr val="F2F2F2"/>
                </a:solidFill>
              </a:rPr>
              <a:t> dificultan la respuesta del sistema.</a:t>
            </a:r>
            <a:endParaRPr sz="1600">
              <a:solidFill>
                <a:srgbClr val="F2F2F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rgbClr val="F2F2F2"/>
                </a:solidFill>
              </a:rPr>
              <a:t>Sin herramientas adecuadas de gestión, los recursos no siempre se destinan a los </a:t>
            </a:r>
            <a:r>
              <a:rPr b="1" lang="es-MX" sz="1600">
                <a:solidFill>
                  <a:srgbClr val="F2F2F2"/>
                </a:solidFill>
              </a:rPr>
              <a:t>casos más urgentes o con mayor potencial de recuperación</a:t>
            </a:r>
            <a:r>
              <a:rPr lang="es-MX" sz="1600">
                <a:solidFill>
                  <a:srgbClr val="F2F2F2"/>
                </a:solidFill>
              </a:rPr>
              <a:t>.</a:t>
            </a:r>
            <a:endParaRPr sz="2100">
              <a:solidFill>
                <a:srgbClr val="F2F2F2"/>
              </a:solidFill>
            </a:endParaRPr>
          </a:p>
        </p:txBody>
      </p:sp>
      <p:pic>
        <p:nvPicPr>
          <p:cNvPr descr="Forma&#10;&#10;El contenido generado por IA puede ser incorrecto." id="117" name="Google Shape;11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4759" y="5065674"/>
            <a:ext cx="838911" cy="838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384F"/>
              </a:gs>
              <a:gs pos="50000">
                <a:srgbClr val="0A5272"/>
              </a:gs>
              <a:gs pos="100000">
                <a:srgbClr val="0C638A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1885807" y="751837"/>
            <a:ext cx="84204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Las ineficiencias y desafíos en la gestión de pacientes se transforman en claras </a:t>
            </a:r>
            <a:r>
              <a:rPr b="1"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oportunidades</a:t>
            </a: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para la innovación y la mejora a través de </a:t>
            </a:r>
            <a:r>
              <a:rPr b="1"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MediAnalytics</a:t>
            </a:r>
            <a:endParaRPr b="1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6046198" y="2716697"/>
            <a:ext cx="5631553" cy="871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2F2F2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graphicFrame>
        <p:nvGraphicFramePr>
          <p:cNvPr id="125" name="Google Shape;125;p16"/>
          <p:cNvGraphicFramePr/>
          <p:nvPr/>
        </p:nvGraphicFramePr>
        <p:xfrm>
          <a:off x="2067309" y="17278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{1141ABED-28F5-4FCC-B9B9-B906458F227E}</a:tableStyleId>
              </a:tblPr>
              <a:tblGrid>
                <a:gridCol w="2045350"/>
                <a:gridCol w="3380300"/>
                <a:gridCol w="2716850"/>
              </a:tblGrid>
              <a:tr h="49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0952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800" u="none" cap="none" strike="noStrike">
                          <a:solidFill>
                            <a:schemeClr val="lt1"/>
                          </a:solidFill>
                        </a:rPr>
                        <a:t>Problema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0952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800" u="none" cap="none" strike="noStrike">
                          <a:solidFill>
                            <a:schemeClr val="lt1"/>
                          </a:solidFill>
                        </a:rPr>
                        <a:t>Oportunidad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095273"/>
                    </a:solidFill>
                  </a:tcPr>
                </a:tc>
              </a:tr>
              <a:tr h="971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800" u="none" cap="none" strike="noStrike">
                          <a:solidFill>
                            <a:schemeClr val="lt1"/>
                          </a:solidFill>
                        </a:rPr>
                        <a:t>Reducir la Subjetividad en las Decisiones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0952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MX" sz="1800" u="none" cap="none" strike="noStrike">
                          <a:solidFill>
                            <a:schemeClr val="lt1"/>
                          </a:solidFill>
                        </a:rPr>
                        <a:t>Las decisiones de priorización dependen del criterio individual del médico, siendo variables.</a:t>
                      </a:r>
                      <a:endParaRPr b="0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0952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MX" sz="1800" u="none" cap="none" strike="noStrike">
                          <a:solidFill>
                            <a:schemeClr val="lt1"/>
                          </a:solidFill>
                        </a:rPr>
                        <a:t>Estandarizar y objetivar para asegurar consistencia y equidad.</a:t>
                      </a:r>
                      <a:endParaRPr b="0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095273"/>
                    </a:solidFill>
                  </a:tcPr>
                </a:tc>
              </a:tr>
              <a:tr h="1478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800" u="none" cap="none" strike="noStrike">
                          <a:solidFill>
                            <a:schemeClr val="lt1"/>
                          </a:solidFill>
                        </a:rPr>
                        <a:t>Establecer Métricas Estandarizadas de Gravedad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0952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MX" sz="1800" u="none" cap="none" strike="noStrike">
                          <a:solidFill>
                            <a:schemeClr val="lt1"/>
                          </a:solidFill>
                        </a:rPr>
                        <a:t>Ausencia de parámetros unificados para evaluar la gravedad de los pacientes.</a:t>
                      </a:r>
                      <a:endParaRPr b="0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0952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MX" sz="1800" u="none" cap="none" strike="noStrike">
                          <a:solidFill>
                            <a:schemeClr val="lt1"/>
                          </a:solidFill>
                        </a:rPr>
                        <a:t>Desarrollar un sistema de puntuación robusto y validado para una identificación precisa de la urgencia.</a:t>
                      </a:r>
                      <a:endParaRPr b="0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095273"/>
                    </a:solidFill>
                  </a:tcPr>
                </a:tc>
              </a:tr>
              <a:tr h="1411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800" u="none" cap="none" strike="noStrike">
                          <a:solidFill>
                            <a:schemeClr val="lt1"/>
                          </a:solidFill>
                        </a:rPr>
                        <a:t>Aprovechar Datos Clínicos Inactivos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0952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MX" sz="1800" u="none" cap="none" strike="noStrike">
                          <a:solidFill>
                            <a:schemeClr val="lt1"/>
                          </a:solidFill>
                        </a:rPr>
                        <a:t>Gran cantidad de información clínica acumulada sin análisis sistemático.</a:t>
                      </a:r>
                      <a:endParaRPr b="0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0952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MX" sz="1800" u="none" cap="none" strike="noStrike">
                          <a:solidFill>
                            <a:schemeClr val="lt1"/>
                          </a:solidFill>
                        </a:rPr>
                        <a:t>Transformar estos datos en "inteligencia accionable" para tomar decisiones informadas.</a:t>
                      </a:r>
                      <a:endParaRPr b="0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095273"/>
                    </a:solidFill>
                  </a:tcPr>
                </a:tc>
              </a:tr>
            </a:tbl>
          </a:graphicData>
        </a:graphic>
      </p:graphicFrame>
      <p:pic>
        <p:nvPicPr>
          <p:cNvPr descr="Forma&#10;&#10;El contenido generado por IA puede ser incorrecto.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675" y="2210084"/>
            <a:ext cx="859736" cy="8597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o&#10;&#10;El contenido generado por IA puede ser incorrecto.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146" y="3323015"/>
            <a:ext cx="1167259" cy="11672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o&#10;&#10;El contenido generado por IA puede ser incorrecto." id="128" name="Google Shape;12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7675" y="4996664"/>
            <a:ext cx="726224" cy="7262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129" name="Google Shape;12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10428220" y="2210084"/>
            <a:ext cx="937177" cy="8808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130" name="Google Shape;13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28220" y="3429000"/>
            <a:ext cx="871330" cy="8713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o&#10;&#10;El contenido generado por IA puede ser incorrecto." id="131" name="Google Shape;13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71705" y="4905294"/>
            <a:ext cx="797716" cy="7977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/>
          <p:nvPr/>
        </p:nvSpPr>
        <p:spPr>
          <a:xfrm>
            <a:off x="115550" y="-127000"/>
            <a:ext cx="12192000" cy="6858000"/>
          </a:xfrm>
          <a:prstGeom prst="rect">
            <a:avLst/>
          </a:prstGeom>
          <a:gradFill>
            <a:gsLst>
              <a:gs pos="0">
                <a:srgbClr val="07384F"/>
              </a:gs>
              <a:gs pos="50000">
                <a:srgbClr val="0A5272"/>
              </a:gs>
              <a:gs pos="100000">
                <a:srgbClr val="0C638A"/>
              </a:gs>
            </a:gsLst>
            <a:lin ang="16200038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</a:rPr>
              <a:t> 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17" title="Logo final.png"/>
          <p:cNvPicPr preferRelativeResize="0"/>
          <p:nvPr/>
        </p:nvPicPr>
        <p:blipFill rotWithShape="1">
          <a:blip r:embed="rId3">
            <a:alphaModFix/>
          </a:blip>
          <a:srcRect b="29458" l="0" r="0" t="28607"/>
          <a:stretch/>
        </p:blipFill>
        <p:spPr>
          <a:xfrm>
            <a:off x="352588" y="1672375"/>
            <a:ext cx="4609974" cy="1933100"/>
          </a:xfrm>
          <a:prstGeom prst="rect">
            <a:avLst/>
          </a:prstGeom>
          <a:noFill/>
          <a:ln>
            <a:noFill/>
          </a:ln>
          <a:effectLst>
            <a:outerShdw blurRad="157163" rotWithShape="0" algn="bl" dir="3000000" dist="47625">
              <a:srgbClr val="000000">
                <a:alpha val="35000"/>
              </a:srgbClr>
            </a:outerShdw>
          </a:effectLst>
        </p:spPr>
      </p:pic>
      <p:sp>
        <p:nvSpPr>
          <p:cNvPr id="138" name="Google Shape;138;p17"/>
          <p:cNvSpPr/>
          <p:nvPr/>
        </p:nvSpPr>
        <p:spPr>
          <a:xfrm>
            <a:off x="450925" y="764175"/>
            <a:ext cx="4413300" cy="7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4245">
                <a:solidFill>
                  <a:srgbClr val="FFFFFF"/>
                </a:solidFill>
              </a:rPr>
              <a:t>¿Que es?</a:t>
            </a:r>
            <a:endParaRPr b="1" sz="4245">
              <a:solidFill>
                <a:srgbClr val="FFFFFF"/>
              </a:solidFill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450925" y="3605475"/>
            <a:ext cx="4980000" cy="20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-MX" sz="2100">
                <a:solidFill>
                  <a:srgbClr val="F2F2F2"/>
                </a:solidFill>
              </a:rPr>
              <a:t>Sistema inteligente para transformar la gestión de pacientes, asegurando una priorización objetiva y eficiente en hospitales públicos. Impulsado por </a:t>
            </a:r>
            <a:r>
              <a:rPr lang="es-MX" sz="2100">
                <a:solidFill>
                  <a:srgbClr val="F2F2F2"/>
                </a:solidFill>
              </a:rPr>
              <a:t>análisis</a:t>
            </a:r>
            <a:r>
              <a:rPr lang="es-MX" sz="2100">
                <a:solidFill>
                  <a:srgbClr val="F2F2F2"/>
                </a:solidFill>
              </a:rPr>
              <a:t> de datos y Machine Learning.</a:t>
            </a:r>
            <a:endParaRPr sz="2100">
              <a:solidFill>
                <a:srgbClr val="F2F2F2"/>
              </a:solidFill>
            </a:endParaRPr>
          </a:p>
          <a:p>
            <a:pPr indent="0" lvl="0" marL="0" rtl="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F2F2F2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145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45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6755150" y="531100"/>
            <a:ext cx="5077500" cy="14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s-MX" sz="2100">
                <a:solidFill>
                  <a:srgbClr val="F2F2F2"/>
                </a:solidFill>
              </a:rPr>
              <a:t>Recopilación</a:t>
            </a:r>
            <a:r>
              <a:rPr b="1" lang="es-MX" sz="2100">
                <a:solidFill>
                  <a:srgbClr val="F2F2F2"/>
                </a:solidFill>
              </a:rPr>
              <a:t> de Datos </a:t>
            </a:r>
            <a:r>
              <a:rPr b="1" lang="es-MX" sz="2100">
                <a:solidFill>
                  <a:srgbClr val="F2F2F2"/>
                </a:solidFill>
              </a:rPr>
              <a:t>Clínicos</a:t>
            </a:r>
            <a:endParaRPr b="1" sz="2100">
              <a:solidFill>
                <a:srgbClr val="F2F2F2"/>
              </a:solidFill>
            </a:endParaRPr>
          </a:p>
          <a:p>
            <a:pPr indent="0" lvl="0" marL="0" rtl="0" algn="ctr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-MX" sz="18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Ingesta ágil desde MongoDB, incluyendo exámenes vitales</a:t>
            </a:r>
            <a:endParaRPr b="1" sz="2000">
              <a:solidFill>
                <a:srgbClr val="F2F2F2"/>
              </a:solidFill>
            </a:endParaRPr>
          </a:p>
          <a:p>
            <a:pPr indent="0" lvl="0" marL="0" rtl="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rgbClr val="F2F2F2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145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45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7025150" y="3655175"/>
            <a:ext cx="4537500" cy="14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s-MX" sz="2100">
                <a:solidFill>
                  <a:srgbClr val="F2F2F2"/>
                </a:solidFill>
              </a:rPr>
              <a:t>Inteligencia predictiva</a:t>
            </a:r>
            <a:endParaRPr b="1" sz="2100">
              <a:solidFill>
                <a:srgbClr val="F2F2F2"/>
              </a:solidFill>
            </a:endParaRPr>
          </a:p>
          <a:p>
            <a:pPr indent="0" lvl="0" marL="0" rtl="0" algn="ctr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-MX" sz="1800">
                <a:solidFill>
                  <a:srgbClr val="F2F2F2"/>
                </a:solidFill>
              </a:rPr>
              <a:t>XGBoost predice patologías y ofrece métricas proactivas de forma gráfica.</a:t>
            </a:r>
            <a:endParaRPr sz="1800">
              <a:solidFill>
                <a:srgbClr val="F2F2F2"/>
              </a:solidFill>
            </a:endParaRPr>
          </a:p>
          <a:p>
            <a:pPr indent="0" lvl="0" marL="0" rtl="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rgbClr val="F2F2F2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145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45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142" name="Google Shape;14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8650" y="578450"/>
            <a:ext cx="581025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8638" y="2374625"/>
            <a:ext cx="581025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/>
          <p:nvPr/>
        </p:nvSpPr>
        <p:spPr>
          <a:xfrm>
            <a:off x="6900775" y="2123300"/>
            <a:ext cx="5077500" cy="12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s-MX" sz="2100">
                <a:solidFill>
                  <a:srgbClr val="F2F2F2"/>
                </a:solidFill>
              </a:rPr>
              <a:t>Coeficiente de Error</a:t>
            </a:r>
            <a:endParaRPr b="1" sz="2100">
              <a:solidFill>
                <a:srgbClr val="F2F2F2"/>
              </a:solidFill>
            </a:endParaRPr>
          </a:p>
          <a:p>
            <a:pPr indent="0" lvl="0" marL="0" rtl="0" algn="ctr">
              <a:lnSpc>
                <a:spcPct val="114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-MX" sz="18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Algoritmo clave que cuantifica </a:t>
            </a:r>
            <a:r>
              <a:rPr lang="es-MX" sz="18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desviación</a:t>
            </a:r>
            <a:r>
              <a:rPr lang="es-MX" sz="18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de valores normales.</a:t>
            </a:r>
            <a:endParaRPr sz="3045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145" name="Google Shape;145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89284" y="4080654"/>
            <a:ext cx="753916" cy="75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/>
          <p:nvPr/>
        </p:nvSpPr>
        <p:spPr>
          <a:xfrm>
            <a:off x="7177550" y="5026775"/>
            <a:ext cx="4537500" cy="14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s-MX" sz="2100">
                <a:solidFill>
                  <a:srgbClr val="F2F2F2"/>
                </a:solidFill>
              </a:rPr>
              <a:t>Priorización</a:t>
            </a:r>
            <a:r>
              <a:rPr b="1" lang="es-MX" sz="2100">
                <a:solidFill>
                  <a:srgbClr val="F2F2F2"/>
                </a:solidFill>
              </a:rPr>
              <a:t> </a:t>
            </a:r>
            <a:r>
              <a:rPr b="1" lang="es-MX" sz="2100">
                <a:solidFill>
                  <a:srgbClr val="F2F2F2"/>
                </a:solidFill>
              </a:rPr>
              <a:t>Dinámica</a:t>
            </a:r>
            <a:endParaRPr b="1" sz="2100">
              <a:solidFill>
                <a:srgbClr val="F2F2F2"/>
              </a:solidFill>
            </a:endParaRPr>
          </a:p>
          <a:p>
            <a:pPr indent="0" lvl="0" marL="0" rtl="0" algn="ctr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-MX" sz="1800">
                <a:solidFill>
                  <a:srgbClr val="F2F2F2"/>
                </a:solidFill>
              </a:rPr>
              <a:t>Nivel porcentual ajustado </a:t>
            </a:r>
            <a:r>
              <a:rPr lang="es-MX" sz="1800">
                <a:solidFill>
                  <a:srgbClr val="F2F2F2"/>
                </a:solidFill>
              </a:rPr>
              <a:t>según</a:t>
            </a:r>
            <a:r>
              <a:rPr lang="es-MX" sz="1800">
                <a:solidFill>
                  <a:srgbClr val="F2F2F2"/>
                </a:solidFill>
              </a:rPr>
              <a:t> el estado de los pacientes.</a:t>
            </a:r>
            <a:endParaRPr sz="1800">
              <a:solidFill>
                <a:srgbClr val="F2F2F2"/>
              </a:solidFill>
            </a:endParaRPr>
          </a:p>
          <a:p>
            <a:pPr indent="0" lvl="0" marL="0" rtl="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rgbClr val="F2F2F2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145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45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147" name="Google Shape;147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28650" y="5430788"/>
            <a:ext cx="675175" cy="67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384F"/>
              </a:gs>
              <a:gs pos="50000">
                <a:srgbClr val="0A5272"/>
              </a:gs>
              <a:gs pos="100000">
                <a:srgbClr val="0C638A"/>
              </a:gs>
            </a:gsLst>
            <a:lin ang="16200038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</a:rPr>
              <a:t> 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1020134" y="350076"/>
            <a:ext cx="4537500" cy="7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700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rPr>
              <a:t>Módulo</a:t>
            </a:r>
            <a:r>
              <a:rPr lang="es-MX" sz="3700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rPr>
              <a:t> Backend:</a:t>
            </a:r>
            <a:endParaRPr sz="3700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700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rPr>
              <a:t>El cerebro de  </a:t>
            </a:r>
            <a:endParaRPr sz="3700"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154" name="Google Shape;154;p18" title="Logo final.png"/>
          <p:cNvPicPr preferRelativeResize="0"/>
          <p:nvPr/>
        </p:nvPicPr>
        <p:blipFill rotWithShape="1">
          <a:blip r:embed="rId3">
            <a:alphaModFix/>
          </a:blip>
          <a:srcRect b="29458" l="0" r="0" t="28607"/>
          <a:stretch/>
        </p:blipFill>
        <p:spPr>
          <a:xfrm>
            <a:off x="4955725" y="129212"/>
            <a:ext cx="4302999" cy="1804375"/>
          </a:xfrm>
          <a:prstGeom prst="rect">
            <a:avLst/>
          </a:prstGeom>
          <a:noFill/>
          <a:ln>
            <a:noFill/>
          </a:ln>
          <a:effectLst>
            <a:outerShdw blurRad="157163" rotWithShape="0" algn="bl" dir="3000000" dist="47625">
              <a:srgbClr val="000000">
                <a:alpha val="35000"/>
              </a:srgbClr>
            </a:outerShdw>
          </a:effectLst>
        </p:spPr>
      </p:pic>
      <p:grpSp>
        <p:nvGrpSpPr>
          <p:cNvPr id="155" name="Google Shape;155;p18"/>
          <p:cNvGrpSpPr/>
          <p:nvPr/>
        </p:nvGrpSpPr>
        <p:grpSpPr>
          <a:xfrm>
            <a:off x="6770547" y="2238329"/>
            <a:ext cx="2948421" cy="1636484"/>
            <a:chOff x="2292786" y="2076312"/>
            <a:chExt cx="3461400" cy="2638640"/>
          </a:xfrm>
        </p:grpSpPr>
        <p:sp>
          <p:nvSpPr>
            <p:cNvPr id="156" name="Google Shape;156;p18"/>
            <p:cNvSpPr/>
            <p:nvPr/>
          </p:nvSpPr>
          <p:spPr>
            <a:xfrm>
              <a:off x="2292786" y="2076312"/>
              <a:ext cx="3461400" cy="25872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7" name="Google Shape;157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744069" y="2279349"/>
              <a:ext cx="493983" cy="5516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" name="Google Shape;158;p18"/>
            <p:cNvSpPr/>
            <p:nvPr/>
          </p:nvSpPr>
          <p:spPr>
            <a:xfrm>
              <a:off x="2425098" y="2921552"/>
              <a:ext cx="3196800" cy="179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rPr b="1" lang="es-MX" sz="1000">
                  <a:solidFill>
                    <a:srgbClr val="434343"/>
                  </a:solidFill>
                </a:rPr>
                <a:t>Ingesta y </a:t>
              </a:r>
              <a:r>
                <a:rPr b="1" lang="es-MX" sz="1000">
                  <a:solidFill>
                    <a:srgbClr val="434343"/>
                  </a:solidFill>
                </a:rPr>
                <a:t>Recuperación</a:t>
              </a:r>
              <a:endParaRPr b="1" sz="10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rPr b="1" lang="es-MX" sz="1000">
                  <a:solidFill>
                    <a:srgbClr val="434343"/>
                  </a:solidFill>
                </a:rPr>
                <a:t>Conexión</a:t>
              </a:r>
              <a:r>
                <a:rPr b="1" lang="es-MX" sz="1000">
                  <a:solidFill>
                    <a:srgbClr val="434343"/>
                  </a:solidFill>
                </a:rPr>
                <a:t> directa con datos mensuales del hospital</a:t>
              </a:r>
              <a:endParaRPr b="1" sz="10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rPr b="1" lang="es-MX" sz="1000">
                  <a:solidFill>
                    <a:srgbClr val="434343"/>
                  </a:solidFill>
                </a:rPr>
                <a:t>(Historial de 2024)</a:t>
              </a:r>
              <a:endParaRPr b="1" sz="1000">
                <a:solidFill>
                  <a:srgbClr val="434343"/>
                </a:solidFill>
              </a:endParaRPr>
            </a:p>
            <a:p>
              <a:pPr indent="0" lvl="0" marL="0" rtl="0" algn="l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t/>
              </a:r>
              <a:endParaRPr sz="2000">
                <a:solidFill>
                  <a:srgbClr val="F2F2F2"/>
                </a:solidFill>
              </a:endParaRPr>
            </a:p>
            <a:p>
              <a:pPr indent="0" lvl="0" marL="0" rtl="0"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endParaRPr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endParaRPr>
            </a:p>
          </p:txBody>
        </p:sp>
      </p:grpSp>
      <p:grpSp>
        <p:nvGrpSpPr>
          <p:cNvPr id="159" name="Google Shape;159;p18"/>
          <p:cNvGrpSpPr/>
          <p:nvPr/>
        </p:nvGrpSpPr>
        <p:grpSpPr>
          <a:xfrm>
            <a:off x="4275600" y="4172916"/>
            <a:ext cx="2948533" cy="1399810"/>
            <a:chOff x="9695500" y="1379674"/>
            <a:chExt cx="2049300" cy="2225100"/>
          </a:xfrm>
        </p:grpSpPr>
        <p:sp>
          <p:nvSpPr>
            <p:cNvPr id="160" name="Google Shape;160;p18"/>
            <p:cNvSpPr/>
            <p:nvPr/>
          </p:nvSpPr>
          <p:spPr>
            <a:xfrm>
              <a:off x="9695500" y="1379674"/>
              <a:ext cx="2049300" cy="22251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1" name="Google Shape;161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391184" y="1438741"/>
              <a:ext cx="540589" cy="8227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" name="Google Shape;162;p18"/>
            <p:cNvSpPr/>
            <p:nvPr/>
          </p:nvSpPr>
          <p:spPr>
            <a:xfrm>
              <a:off x="9776650" y="2261522"/>
              <a:ext cx="1887000" cy="100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rPr b="1" lang="es-MX" sz="1000">
                  <a:solidFill>
                    <a:srgbClr val="434343"/>
                  </a:solidFill>
                </a:rPr>
                <a:t>Cálculo</a:t>
              </a:r>
              <a:r>
                <a:rPr b="1" lang="es-MX" sz="1000">
                  <a:solidFill>
                    <a:srgbClr val="434343"/>
                  </a:solidFill>
                </a:rPr>
                <a:t> Preciso</a:t>
              </a:r>
              <a:endParaRPr b="1" sz="10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rPr b="1" lang="es-MX" sz="1000">
                  <a:solidFill>
                    <a:srgbClr val="434343"/>
                  </a:solidFill>
                </a:rPr>
                <a:t>Compara indicadores clave con rangos saludables predefinidos.</a:t>
              </a:r>
              <a:endParaRPr b="1" sz="10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t/>
              </a:r>
              <a:endParaRPr b="1" sz="10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endParaRPr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endParaRPr>
            </a:p>
          </p:txBody>
        </p:sp>
      </p:grpSp>
      <p:grpSp>
        <p:nvGrpSpPr>
          <p:cNvPr id="163" name="Google Shape;163;p18"/>
          <p:cNvGrpSpPr/>
          <p:nvPr/>
        </p:nvGrpSpPr>
        <p:grpSpPr>
          <a:xfrm>
            <a:off x="2109600" y="2177500"/>
            <a:ext cx="2049300" cy="2196300"/>
            <a:chOff x="5173350" y="2030875"/>
            <a:chExt cx="2049300" cy="2196300"/>
          </a:xfrm>
        </p:grpSpPr>
        <p:sp>
          <p:nvSpPr>
            <p:cNvPr id="164" name="Google Shape;164;p18"/>
            <p:cNvSpPr/>
            <p:nvPr/>
          </p:nvSpPr>
          <p:spPr>
            <a:xfrm>
              <a:off x="5173350" y="2030875"/>
              <a:ext cx="2049300" cy="2196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8"/>
            <p:cNvSpPr/>
            <p:nvPr/>
          </p:nvSpPr>
          <p:spPr>
            <a:xfrm>
              <a:off x="5292300" y="2148838"/>
              <a:ext cx="1811400" cy="4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rPr b="1" lang="es-MX" sz="1900">
                  <a:solidFill>
                    <a:srgbClr val="434343"/>
                  </a:solidFill>
                </a:rPr>
                <a:t>APP </a:t>
              </a:r>
              <a:endParaRPr b="1" sz="19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t/>
              </a:r>
              <a:endParaRPr b="1" sz="10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endParaRPr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endParaRPr>
            </a:p>
          </p:txBody>
        </p:sp>
        <p:pic>
          <p:nvPicPr>
            <p:cNvPr id="166" name="Google Shape;166;p1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261272" y="2851300"/>
              <a:ext cx="719750" cy="719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8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433512" y="2737912"/>
              <a:ext cx="663325" cy="852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" name="Google Shape;168;p18"/>
            <p:cNvSpPr/>
            <p:nvPr/>
          </p:nvSpPr>
          <p:spPr>
            <a:xfrm>
              <a:off x="5838150" y="2967575"/>
              <a:ext cx="719700" cy="4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rPr b="1" lang="es-MX" sz="2200">
                  <a:solidFill>
                    <a:srgbClr val="434343"/>
                  </a:solidFill>
                </a:rPr>
                <a:t>+</a:t>
              </a:r>
              <a:endParaRPr b="1" sz="22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t/>
              </a:r>
              <a:endParaRPr b="1" sz="10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endParaRPr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endParaRPr>
            </a:p>
          </p:txBody>
        </p:sp>
      </p:grpSp>
      <p:grpSp>
        <p:nvGrpSpPr>
          <p:cNvPr id="169" name="Google Shape;169;p18"/>
          <p:cNvGrpSpPr/>
          <p:nvPr/>
        </p:nvGrpSpPr>
        <p:grpSpPr>
          <a:xfrm>
            <a:off x="4447224" y="2238365"/>
            <a:ext cx="1968158" cy="1636398"/>
            <a:chOff x="2962325" y="4923625"/>
            <a:chExt cx="3361500" cy="1001100"/>
          </a:xfrm>
        </p:grpSpPr>
        <p:sp>
          <p:nvSpPr>
            <p:cNvPr id="170" name="Google Shape;170;p18"/>
            <p:cNvSpPr/>
            <p:nvPr/>
          </p:nvSpPr>
          <p:spPr>
            <a:xfrm>
              <a:off x="2962325" y="4923625"/>
              <a:ext cx="3361500" cy="10011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1" name="Google Shape;171;p18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3439620" y="5215842"/>
              <a:ext cx="2406943" cy="41665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2" name="Google Shape;172;p18"/>
          <p:cNvGrpSpPr/>
          <p:nvPr/>
        </p:nvGrpSpPr>
        <p:grpSpPr>
          <a:xfrm>
            <a:off x="2109606" y="4522575"/>
            <a:ext cx="2049270" cy="1001100"/>
            <a:chOff x="4666900" y="4647475"/>
            <a:chExt cx="2508900" cy="1001100"/>
          </a:xfrm>
        </p:grpSpPr>
        <p:sp>
          <p:nvSpPr>
            <p:cNvPr id="173" name="Google Shape;173;p18"/>
            <p:cNvSpPr/>
            <p:nvPr/>
          </p:nvSpPr>
          <p:spPr>
            <a:xfrm>
              <a:off x="4666900" y="4647475"/>
              <a:ext cx="2508900" cy="10011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8"/>
            <p:cNvSpPr/>
            <p:nvPr/>
          </p:nvSpPr>
          <p:spPr>
            <a:xfrm>
              <a:off x="5258625" y="4920963"/>
              <a:ext cx="1811400" cy="4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rPr b="1" lang="es-MX" sz="1900">
                  <a:solidFill>
                    <a:srgbClr val="434343"/>
                  </a:solidFill>
                </a:rPr>
                <a:t>XGBoost</a:t>
              </a:r>
              <a:endParaRPr b="1" sz="19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114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t/>
              </a:r>
              <a:endParaRPr b="1" sz="1000">
                <a:solidFill>
                  <a:srgbClr val="434343"/>
                </a:solidFill>
              </a:endParaRPr>
            </a:p>
            <a:p>
              <a:pPr indent="0" lvl="0" marL="0" rtl="0"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endParaRPr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45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endParaRPr>
            </a:p>
          </p:txBody>
        </p:sp>
        <p:pic>
          <p:nvPicPr>
            <p:cNvPr id="175" name="Google Shape;175;p18"/>
            <p:cNvPicPr preferRelativeResize="0"/>
            <p:nvPr/>
          </p:nvPicPr>
          <p:blipFill>
            <a:blip r:embed="rId9">
              <a:alphaModFix amt="79000"/>
            </a:blip>
            <a:stretch>
              <a:fillRect/>
            </a:stretch>
          </p:blipFill>
          <p:spPr>
            <a:xfrm>
              <a:off x="4955725" y="4833999"/>
              <a:ext cx="543325" cy="54330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6" name="Google Shape;176;p18"/>
          <p:cNvGrpSpPr/>
          <p:nvPr/>
        </p:nvGrpSpPr>
        <p:grpSpPr>
          <a:xfrm>
            <a:off x="7340825" y="4172916"/>
            <a:ext cx="2948533" cy="1399810"/>
            <a:chOff x="6756525" y="3450416"/>
            <a:chExt cx="2948533" cy="1399810"/>
          </a:xfrm>
        </p:grpSpPr>
        <p:grpSp>
          <p:nvGrpSpPr>
            <p:cNvPr id="177" name="Google Shape;177;p18"/>
            <p:cNvGrpSpPr/>
            <p:nvPr/>
          </p:nvGrpSpPr>
          <p:grpSpPr>
            <a:xfrm>
              <a:off x="6756525" y="3450416"/>
              <a:ext cx="2948533" cy="1399810"/>
              <a:chOff x="9695500" y="1379674"/>
              <a:chExt cx="2049300" cy="2225100"/>
            </a:xfrm>
          </p:grpSpPr>
          <p:sp>
            <p:nvSpPr>
              <p:cNvPr id="178" name="Google Shape;178;p18"/>
              <p:cNvSpPr/>
              <p:nvPr/>
            </p:nvSpPr>
            <p:spPr>
              <a:xfrm>
                <a:off x="9695500" y="1379674"/>
                <a:ext cx="2049300" cy="22251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18"/>
              <p:cNvSpPr/>
              <p:nvPr/>
            </p:nvSpPr>
            <p:spPr>
              <a:xfrm>
                <a:off x="9776644" y="2261500"/>
                <a:ext cx="1887000" cy="11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rtl="0" algn="ctr">
                  <a:lnSpc>
                    <a:spcPct val="114000"/>
                  </a:lnSpc>
                  <a:spcBef>
                    <a:spcPts val="1200"/>
                  </a:spcBef>
                  <a:spcAft>
                    <a:spcPts val="0"/>
                  </a:spcAft>
                  <a:buSzPts val="1100"/>
                  <a:buNone/>
                </a:pPr>
                <a:r>
                  <a:rPr b="1" lang="es-MX" sz="1000">
                    <a:solidFill>
                      <a:srgbClr val="434343"/>
                    </a:solidFill>
                  </a:rPr>
                  <a:t>Asignación</a:t>
                </a:r>
                <a:r>
                  <a:rPr b="1" lang="es-MX" sz="1000">
                    <a:solidFill>
                      <a:srgbClr val="434343"/>
                    </a:solidFill>
                  </a:rPr>
                  <a:t> Inteligente</a:t>
                </a:r>
                <a:endParaRPr b="1" sz="1000">
                  <a:solidFill>
                    <a:srgbClr val="434343"/>
                  </a:solidFill>
                </a:endParaRPr>
              </a:p>
              <a:p>
                <a:pPr indent="0" lvl="0" marL="0" rtl="0" algn="ctr">
                  <a:lnSpc>
                    <a:spcPct val="114000"/>
                  </a:lnSpc>
                  <a:spcBef>
                    <a:spcPts val="1200"/>
                  </a:spcBef>
                  <a:spcAft>
                    <a:spcPts val="0"/>
                  </a:spcAft>
                  <a:buSzPts val="1100"/>
                  <a:buNone/>
                </a:pPr>
                <a:r>
                  <a:rPr b="1" lang="es-MX" sz="1000">
                    <a:solidFill>
                      <a:srgbClr val="434343"/>
                    </a:solidFill>
                  </a:rPr>
                  <a:t>Priorización</a:t>
                </a:r>
                <a:r>
                  <a:rPr b="1" lang="es-MX" sz="1000">
                    <a:solidFill>
                      <a:srgbClr val="434343"/>
                    </a:solidFill>
                  </a:rPr>
                  <a:t> </a:t>
                </a:r>
                <a:r>
                  <a:rPr b="1" lang="es-MX" sz="1000">
                    <a:solidFill>
                      <a:srgbClr val="434343"/>
                    </a:solidFill>
                  </a:rPr>
                  <a:t>dinámica</a:t>
                </a:r>
                <a:r>
                  <a:rPr b="1" lang="es-MX" sz="1000">
                    <a:solidFill>
                      <a:srgbClr val="434343"/>
                    </a:solidFill>
                  </a:rPr>
                  <a:t> basada en el coeficiente de error.</a:t>
                </a:r>
                <a:endParaRPr b="1" sz="1000">
                  <a:solidFill>
                    <a:srgbClr val="434343"/>
                  </a:solidFill>
                </a:endParaRPr>
              </a:p>
              <a:p>
                <a:pPr indent="0" lvl="0" marL="0" rtl="0" algn="ctr">
                  <a:lnSpc>
                    <a:spcPct val="114000"/>
                  </a:lnSpc>
                  <a:spcBef>
                    <a:spcPts val="1200"/>
                  </a:spcBef>
                  <a:spcAft>
                    <a:spcPts val="0"/>
                  </a:spcAft>
                  <a:buSzPts val="1100"/>
                  <a:buNone/>
                </a:pPr>
                <a:r>
                  <a:t/>
                </a:r>
                <a:endParaRPr b="1" sz="1000">
                  <a:solidFill>
                    <a:srgbClr val="434343"/>
                  </a:solidFill>
                </a:endParaRPr>
              </a:p>
              <a:p>
                <a:pPr indent="0" lvl="0" marL="0" rtl="0" algn="ctr">
                  <a:lnSpc>
                    <a:spcPct val="80000"/>
                  </a:lnSpc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145">
                  <a:solidFill>
                    <a:srgbClr val="FFFFFF"/>
                  </a:solidFill>
                  <a:latin typeface="Aharoni"/>
                  <a:ea typeface="Aharoni"/>
                  <a:cs typeface="Aharoni"/>
                  <a:sym typeface="Aharoni"/>
                </a:endParaRPr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145">
                  <a:solidFill>
                    <a:srgbClr val="FFFFFF"/>
                  </a:solidFill>
                  <a:latin typeface="Aharoni"/>
                  <a:ea typeface="Aharoni"/>
                  <a:cs typeface="Aharoni"/>
                  <a:sym typeface="Aharoni"/>
                </a:endParaRPr>
              </a:p>
            </p:txBody>
          </p:sp>
        </p:grpSp>
        <p:pic>
          <p:nvPicPr>
            <p:cNvPr id="180" name="Google Shape;180;p18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8039697" y="3593200"/>
              <a:ext cx="382175" cy="3821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384F"/>
              </a:gs>
              <a:gs pos="50000">
                <a:srgbClr val="0A5272"/>
              </a:gs>
              <a:gs pos="100000">
                <a:srgbClr val="0C638A"/>
              </a:gs>
            </a:gsLst>
            <a:lin ang="16200038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</a:rPr>
              <a:t> 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504100" y="317875"/>
            <a:ext cx="4233900" cy="9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9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Inteligencia Predictiva </a:t>
            </a:r>
            <a:endParaRPr sz="2900">
              <a:solidFill>
                <a:srgbClr val="F5F0F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29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con XGBoost</a:t>
            </a:r>
            <a:endParaRPr sz="2900">
              <a:solidFill>
                <a:srgbClr val="F5F0F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504100" y="1734975"/>
            <a:ext cx="6150900" cy="9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9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Nuestro modelo XGBoost predice la probabilidad de patologías. Ofrece una visión proactiva de la salud. Genera métricas clave para decisiones clínicas.</a:t>
            </a:r>
            <a:endParaRPr sz="1900">
              <a:solidFill>
                <a:srgbClr val="E2E6E9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5F0F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89" name="Google Shape;189;p19"/>
          <p:cNvPicPr preferRelativeResize="0"/>
          <p:nvPr/>
        </p:nvPicPr>
        <p:blipFill rotWithShape="1">
          <a:blip r:embed="rId4">
            <a:alphaModFix/>
          </a:blip>
          <a:srcRect b="0" l="2380" r="-2380" t="0"/>
          <a:stretch/>
        </p:blipFill>
        <p:spPr>
          <a:xfrm>
            <a:off x="504100" y="3295075"/>
            <a:ext cx="3167900" cy="1531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6913" y="4539637"/>
            <a:ext cx="2732138" cy="574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7892" y="5113650"/>
            <a:ext cx="3010200" cy="74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80220" y="3295075"/>
            <a:ext cx="3278617" cy="158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82775" y="4539625"/>
            <a:ext cx="3326449" cy="61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423175" y="5057875"/>
            <a:ext cx="2566225" cy="94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384F"/>
              </a:gs>
              <a:gs pos="50000">
                <a:srgbClr val="0A5272"/>
              </a:gs>
              <a:gs pos="100000">
                <a:srgbClr val="0C638A"/>
              </a:gs>
            </a:gsLst>
            <a:lin ang="16200038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</a:rPr>
              <a:t> 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248841"/>
            <a:ext cx="12192000" cy="6512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384F"/>
              </a:gs>
              <a:gs pos="50000">
                <a:srgbClr val="0A5272"/>
              </a:gs>
              <a:gs pos="100000">
                <a:srgbClr val="0C638A"/>
              </a:gs>
            </a:gsLst>
            <a:lin ang="16200038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</a:rPr>
              <a:t> 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5605"/>
            <a:ext cx="12192000" cy="6554391"/>
          </a:xfrm>
          <a:prstGeom prst="rect">
            <a:avLst/>
          </a:prstGeom>
          <a:gradFill>
            <a:gsLst>
              <a:gs pos="0">
                <a:srgbClr val="07384F"/>
              </a:gs>
              <a:gs pos="50000">
                <a:srgbClr val="0A5272"/>
              </a:gs>
              <a:gs pos="100000">
                <a:srgbClr val="0C638A"/>
              </a:gs>
            </a:gsLst>
            <a:lin ang="16200038" scaled="0"/>
          </a:gradFill>
          <a:ln>
            <a:noFill/>
          </a:ln>
        </p:spPr>
      </p:pic>
      <p:pic>
        <p:nvPicPr>
          <p:cNvPr id="207" name="Google Shape;20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0725" y="4435325"/>
            <a:ext cx="5820125" cy="90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384F"/>
              </a:gs>
              <a:gs pos="50000">
                <a:srgbClr val="0A5272"/>
              </a:gs>
              <a:gs pos="100000">
                <a:srgbClr val="0C638A"/>
              </a:gs>
            </a:gsLst>
            <a:lin ang="16200038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</a:rPr>
              <a:t> 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/>
          <p:nvPr/>
        </p:nvSpPr>
        <p:spPr>
          <a:xfrm>
            <a:off x="1357200" y="818275"/>
            <a:ext cx="4641900" cy="12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4245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Una nueva era en la Salud</a:t>
            </a:r>
            <a:endParaRPr b="1" sz="4245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732750" y="3057000"/>
            <a:ext cx="58908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9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MediAnalytics es más que una herramienta. Es una plataforma para la atención médica del futuro. Los datos salvan vidas y optimizan recursos.</a:t>
            </a:r>
            <a:endParaRPr sz="1900">
              <a:solidFill>
                <a:srgbClr val="E2E6E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