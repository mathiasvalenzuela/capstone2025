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D16D83-3B83-4016-A39D-9DDD4BE509E9}">
  <a:tblStyle styleId="{CCD16D83-3B83-4016-A39D-9DDD4BE509E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.fntdata"/><Relationship Id="rId6" Type="http://schemas.openxmlformats.org/officeDocument/2006/relationships/slide" Target="slides/slide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Obviamente explicar detalladamente cada una.</a:t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7557c6b36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134" name="Google Shape;134;g367557c6b36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76bacea0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150" name="Google Shape;150;g3676bacea0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76bacea04_0_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183" name="Google Shape;183;g3676bacea04_0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7557c6b3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197" name="Google Shape;197;g367557c6b3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76bacea04_0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203" name="Google Shape;203;g3676bacea04_0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76bacea04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210" name="Google Shape;210;g3676bacea04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20.png"/><Relationship Id="rId10" Type="http://schemas.openxmlformats.org/officeDocument/2006/relationships/image" Target="../media/image18.png"/><Relationship Id="rId9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29.png"/><Relationship Id="rId7" Type="http://schemas.openxmlformats.org/officeDocument/2006/relationships/image" Target="../media/image11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34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-46383"/>
            <a:ext cx="5683250" cy="6970643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00025" y="2161437"/>
            <a:ext cx="52833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3700" u="none" cap="none" strike="noStrik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Sistema Inteligente de Priorización de Pacientes</a:t>
            </a:r>
            <a:endParaRPr/>
          </a:p>
        </p:txBody>
      </p:sp>
      <p:pic>
        <p:nvPicPr>
          <p:cNvPr descr="Interfaz de usuario gráfica, Aplicación&#10;&#10;El contenido generado por IA puede ser incorrecto.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325" y="1118732"/>
            <a:ext cx="7054310" cy="482318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84225" y="4108956"/>
            <a:ext cx="491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Convertimos datos clínicos en decisiones estratégicas para hospitales públicos, priorizando a los pacientes más vulnerables y optimizando el uso de recursos limitados.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Datos que salvan vidas. Decisiones que hacen la diferencia.</a:t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00025" y="5817078"/>
            <a:ext cx="3479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María Celeste Vera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Kenyon Bustamante Ojeda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Mathias Valenzuela Alonso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title="Logo final.png"/>
          <p:cNvPicPr preferRelativeResize="0"/>
          <p:nvPr/>
        </p:nvPicPr>
        <p:blipFill rotWithShape="1">
          <a:blip r:embed="rId4">
            <a:alphaModFix/>
          </a:blip>
          <a:srcRect b="29458" l="0" r="0" t="28607"/>
          <a:stretch/>
        </p:blipFill>
        <p:spPr>
          <a:xfrm>
            <a:off x="690175" y="732150"/>
            <a:ext cx="4302999" cy="18043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500135" y="394197"/>
            <a:ext cx="45375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Contextualización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953075" y="1729373"/>
            <a:ext cx="5631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>
                <a:solidFill>
                  <a:srgbClr val="F2F2F2"/>
                </a:solidFill>
              </a:rPr>
              <a:t>En el panorama actual de la salud pública en Chile, y específicamente en el hospital Dr Luis Calvo Mackenna, enfrentamos un desafío crítico en la gestión de pacientes. </a:t>
            </a:r>
            <a:endParaRPr sz="1700"/>
          </a:p>
        </p:txBody>
      </p:sp>
      <p:pic>
        <p:nvPicPr>
          <p:cNvPr descr="Hospital Dr. Luis Calvo Mackenna - Wikipedia, la enciclopedia libre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15213" r="0" t="0"/>
          <a:stretch/>
        </p:blipFill>
        <p:spPr>
          <a:xfrm>
            <a:off x="0" y="1"/>
            <a:ext cx="526773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3500" y="3504400"/>
            <a:ext cx="4350749" cy="29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El contenido generado por IA puede ser incorrecto." id="109" name="Google Shape;10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57" y="189788"/>
            <a:ext cx="782860" cy="782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4104" y="0"/>
            <a:ext cx="4697896" cy="686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1703419" y="406817"/>
            <a:ext cx="4537628" cy="75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Desafío Actual</a:t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63600" y="1376650"/>
            <a:ext cx="6096000" cy="1398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Listas de espera prolongadas</a:t>
            </a:r>
            <a:r>
              <a:rPr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>
                <a:solidFill>
                  <a:srgbClr val="F2F2F2"/>
                </a:solidFill>
              </a:rPr>
              <a:t>Muchos usuarios deben esperar </a:t>
            </a:r>
            <a:r>
              <a:rPr b="1" lang="es-MX" sz="1600">
                <a:solidFill>
                  <a:srgbClr val="F2F2F2"/>
                </a:solidFill>
              </a:rPr>
              <a:t>meses o incluso años</a:t>
            </a:r>
            <a:r>
              <a:rPr lang="es-MX" sz="1600">
                <a:solidFill>
                  <a:srgbClr val="F2F2F2"/>
                </a:solidFill>
              </a:rPr>
              <a:t> para acceder a una consulta, examen o intervención quirúrgica.</a:t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2F2F2"/>
                </a:solidFill>
              </a:rPr>
              <a:t>Esta demora genera </a:t>
            </a:r>
            <a:r>
              <a:rPr b="1" lang="es-MX" sz="1600">
                <a:solidFill>
                  <a:srgbClr val="F2F2F2"/>
                </a:solidFill>
              </a:rPr>
              <a:t>frustración y ansiedad</a:t>
            </a:r>
            <a:r>
              <a:rPr lang="es-MX" sz="1600">
                <a:solidFill>
                  <a:srgbClr val="F2F2F2"/>
                </a:solidFill>
              </a:rPr>
              <a:t>, y puede provocar un </a:t>
            </a:r>
            <a:r>
              <a:rPr b="1" lang="es-MX" sz="1600">
                <a:solidFill>
                  <a:srgbClr val="F2F2F2"/>
                </a:solidFill>
              </a:rPr>
              <a:t>deterioro progresivo en el estado de salud</a:t>
            </a:r>
            <a:r>
              <a:rPr lang="es-MX" sz="1600">
                <a:solidFill>
                  <a:srgbClr val="F2F2F2"/>
                </a:solidFill>
              </a:rPr>
              <a:t> del paciente.</a:t>
            </a:r>
            <a:endParaRPr sz="2100">
              <a:solidFill>
                <a:srgbClr val="F2F2F2"/>
              </a:solidFill>
            </a:endParaRPr>
          </a:p>
        </p:txBody>
      </p:sp>
      <p:pic>
        <p:nvPicPr>
          <p:cNvPr descr="Icono&#10;&#10;El contenido generado por IA puede ser incorrecto.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070" y="1511305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1163600" y="2991524"/>
            <a:ext cx="6096000" cy="15558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Riesgo de deterioro clínico: 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2F2F2"/>
                </a:solidFill>
              </a:rPr>
              <a:t>La consecuencia más grave de las largas esperas es el </a:t>
            </a:r>
            <a:r>
              <a:rPr b="1" lang="es-MX" sz="1600">
                <a:solidFill>
                  <a:srgbClr val="F2F2F2"/>
                </a:solidFill>
              </a:rPr>
              <a:t>empeoramiento de la salud del paciente</a:t>
            </a:r>
            <a:r>
              <a:rPr lang="es-MX" sz="1600">
                <a:solidFill>
                  <a:srgbClr val="F2F2F2"/>
                </a:solidFill>
              </a:rPr>
              <a:t>.</a:t>
            </a:r>
            <a:br>
              <a:rPr lang="es-MX" sz="1600">
                <a:solidFill>
                  <a:srgbClr val="F2F2F2"/>
                </a:solidFill>
              </a:rPr>
            </a:br>
            <a:r>
              <a:rPr lang="es-MX" sz="1600">
                <a:solidFill>
                  <a:srgbClr val="F2F2F2"/>
                </a:solidFill>
              </a:rPr>
              <a:t> Condiciones inicialmente tratables pueden volverse complejas, lo que </a:t>
            </a:r>
            <a:r>
              <a:rPr b="1" lang="es-MX" sz="1600">
                <a:solidFill>
                  <a:srgbClr val="F2F2F2"/>
                </a:solidFill>
              </a:rPr>
              <a:t>aumenta los costos</a:t>
            </a:r>
            <a:r>
              <a:rPr lang="es-MX" sz="1600">
                <a:solidFill>
                  <a:srgbClr val="F2F2F2"/>
                </a:solidFill>
              </a:rPr>
              <a:t> y la </a:t>
            </a:r>
            <a:r>
              <a:rPr b="1" lang="es-MX" sz="1600">
                <a:solidFill>
                  <a:srgbClr val="F2F2F2"/>
                </a:solidFill>
              </a:rPr>
              <a:t>sobrecarga del sistema de salud</a:t>
            </a:r>
            <a:r>
              <a:rPr lang="es-MX" sz="1600">
                <a:solidFill>
                  <a:srgbClr val="F2F2F2"/>
                </a:solidFill>
              </a:rPr>
              <a:t>.</a:t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&#10;&#10;El contenido generado por IA puede ser incorrecto.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775" y="3124204"/>
            <a:ext cx="834015" cy="834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163600" y="4704578"/>
            <a:ext cx="6096000" cy="1661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Asignación Ineficiente de Recursos: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>
                <a:solidFill>
                  <a:srgbClr val="F2F2F2"/>
                </a:solidFill>
              </a:rPr>
              <a:t>La </a:t>
            </a:r>
            <a:r>
              <a:rPr b="1" lang="es-MX" sz="1600">
                <a:solidFill>
                  <a:srgbClr val="F2F2F2"/>
                </a:solidFill>
              </a:rPr>
              <a:t>escasez de personal médico</a:t>
            </a:r>
            <a:r>
              <a:rPr lang="es-MX" sz="1600">
                <a:solidFill>
                  <a:srgbClr val="F2F2F2"/>
                </a:solidFill>
              </a:rPr>
              <a:t> y las </a:t>
            </a:r>
            <a:r>
              <a:rPr b="1" lang="es-MX" sz="1600">
                <a:solidFill>
                  <a:srgbClr val="F2F2F2"/>
                </a:solidFill>
              </a:rPr>
              <a:t>restricciones presupuestarias</a:t>
            </a:r>
            <a:r>
              <a:rPr lang="es-MX" sz="1600">
                <a:solidFill>
                  <a:srgbClr val="F2F2F2"/>
                </a:solidFill>
              </a:rPr>
              <a:t> dificultan la respuesta del sistema.</a:t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2F2F2"/>
                </a:solidFill>
              </a:rPr>
              <a:t>Sin herramientas adecuadas de gestión, los recursos no siempre se destinan a los </a:t>
            </a:r>
            <a:r>
              <a:rPr b="1" lang="es-MX" sz="1600">
                <a:solidFill>
                  <a:srgbClr val="F2F2F2"/>
                </a:solidFill>
              </a:rPr>
              <a:t>casos más urgentes o con mayor potencial de recuperación</a:t>
            </a:r>
            <a:r>
              <a:rPr lang="es-MX" sz="1600">
                <a:solidFill>
                  <a:srgbClr val="F2F2F2"/>
                </a:solidFill>
              </a:rPr>
              <a:t>.</a:t>
            </a:r>
            <a:endParaRPr sz="2100">
              <a:solidFill>
                <a:srgbClr val="F2F2F2"/>
              </a:solidFill>
            </a:endParaRPr>
          </a:p>
        </p:txBody>
      </p:sp>
      <p:pic>
        <p:nvPicPr>
          <p:cNvPr descr="Forma&#10;&#10;El contenido generado por IA puede ser incorrecto.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759" y="5065674"/>
            <a:ext cx="838911" cy="83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1885807" y="751837"/>
            <a:ext cx="84204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 ineficiencias y desafíos en la gestión de pacientes se transforman en claras 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oportunidades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la innovación y la mejora a través de 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MediAnalytics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046198" y="2716697"/>
            <a:ext cx="5631553" cy="871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2F2F2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125" name="Google Shape;125;p16"/>
          <p:cNvGraphicFramePr/>
          <p:nvPr/>
        </p:nvGraphicFramePr>
        <p:xfrm>
          <a:off x="2067309" y="1727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{CCD16D83-3B83-4016-A39D-9DDD4BE509E9}</a:tableStyleId>
              </a:tblPr>
              <a:tblGrid>
                <a:gridCol w="2045350"/>
                <a:gridCol w="3380300"/>
                <a:gridCol w="2716850"/>
              </a:tblGrid>
              <a:tr h="49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Problema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Oportunidad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97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Reducir la Subjetividad en las Decisiones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Las decisiones de priorización dependen del criterio individual del médico, siendo variables.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Estandarizar y objetivar para asegurar consistencia y equidad.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1478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Establecer Métricas Estandarizadas de Gravedad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Ausencia de parámetros unificados para evaluar la gravedad de los pacientes.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Desarrollar un sistema de puntuación robusto y validado para una identificación precisa de la urgencia.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141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Aprovechar Datos Clínicos Inactivos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Gran cantidad de información clínica acumulada sin análisis sistemático.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Transformar estos datos en "inteligencia accionable" para tomar decisiones informadas.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</a:tbl>
          </a:graphicData>
        </a:graphic>
      </p:graphicFrame>
      <p:pic>
        <p:nvPicPr>
          <p:cNvPr descr="Forma&#10;&#10;El contenido generado por IA puede ser incorrecto.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675" y="2210084"/>
            <a:ext cx="859736" cy="859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146" y="3323015"/>
            <a:ext cx="1167259" cy="11672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675" y="4996664"/>
            <a:ext cx="726224" cy="72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10428220" y="2210084"/>
            <a:ext cx="937177" cy="880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8220" y="3429000"/>
            <a:ext cx="871330" cy="871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1705" y="4905294"/>
            <a:ext cx="797716" cy="797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7" title="Logo final.png"/>
          <p:cNvPicPr preferRelativeResize="0"/>
          <p:nvPr/>
        </p:nvPicPr>
        <p:blipFill rotWithShape="1">
          <a:blip r:embed="rId3">
            <a:alphaModFix/>
          </a:blip>
          <a:srcRect b="29458" l="0" r="0" t="28607"/>
          <a:stretch/>
        </p:blipFill>
        <p:spPr>
          <a:xfrm>
            <a:off x="352588" y="1672375"/>
            <a:ext cx="4609974" cy="19331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  <p:sp>
        <p:nvSpPr>
          <p:cNvPr id="138" name="Google Shape;138;p17"/>
          <p:cNvSpPr/>
          <p:nvPr/>
        </p:nvSpPr>
        <p:spPr>
          <a:xfrm>
            <a:off x="450925" y="764175"/>
            <a:ext cx="44133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245">
                <a:solidFill>
                  <a:srgbClr val="FFFFFF"/>
                </a:solidFill>
              </a:rPr>
              <a:t>¿Que es?</a:t>
            </a:r>
            <a:endParaRPr b="1" sz="4245">
              <a:solidFill>
                <a:srgbClr val="FFFFFF"/>
              </a:solidFill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50925" y="3605475"/>
            <a:ext cx="4980000" cy="20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2100">
                <a:solidFill>
                  <a:srgbClr val="F2F2F2"/>
                </a:solidFill>
              </a:rPr>
              <a:t>Sistema inteligente para transformar la gestión de pacientes, asegurando una priorización objetiva y eficiente en hospitales públicos. Impulsado por </a:t>
            </a:r>
            <a:r>
              <a:rPr lang="es-MX" sz="2100">
                <a:solidFill>
                  <a:srgbClr val="F2F2F2"/>
                </a:solidFill>
              </a:rPr>
              <a:t>análisis</a:t>
            </a:r>
            <a:r>
              <a:rPr lang="es-MX" sz="2100">
                <a:solidFill>
                  <a:srgbClr val="F2F2F2"/>
                </a:solidFill>
              </a:rPr>
              <a:t> de datos y Machine Learning.</a:t>
            </a:r>
            <a:endParaRPr sz="21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755150" y="531100"/>
            <a:ext cx="50775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Recopilación</a:t>
            </a:r>
            <a:r>
              <a:rPr b="1" lang="es-MX" sz="2100">
                <a:solidFill>
                  <a:srgbClr val="F2F2F2"/>
                </a:solidFill>
              </a:rPr>
              <a:t> de Datos </a:t>
            </a:r>
            <a:r>
              <a:rPr b="1" lang="es-MX" sz="2100">
                <a:solidFill>
                  <a:srgbClr val="F2F2F2"/>
                </a:solidFill>
              </a:rPr>
              <a:t>Clínicos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Ingesta ágil desde MongoDB, incluyendo exámenes vitales</a:t>
            </a:r>
            <a:endParaRPr b="1" sz="20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025150" y="3655175"/>
            <a:ext cx="4537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Inteligencia predictiva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F2F2F2"/>
                </a:solidFill>
              </a:rPr>
              <a:t>XGBoost predice patologías y ofrece métricas proactivas de forma gráfica.</a:t>
            </a:r>
            <a:endParaRPr sz="18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650" y="578450"/>
            <a:ext cx="58102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8638" y="2374625"/>
            <a:ext cx="58102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6900775" y="2123300"/>
            <a:ext cx="50775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Coeficiente de Error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Algoritmo clave que cuantifica </a:t>
            </a: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desviación</a:t>
            </a: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de valores normales.</a:t>
            </a:r>
            <a:endParaRPr sz="30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9284" y="4080654"/>
            <a:ext cx="753916" cy="7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7177550" y="5026775"/>
            <a:ext cx="4537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Priorización</a:t>
            </a:r>
            <a:r>
              <a:rPr b="1" lang="es-MX" sz="2100">
                <a:solidFill>
                  <a:srgbClr val="F2F2F2"/>
                </a:solidFill>
              </a:rPr>
              <a:t> </a:t>
            </a:r>
            <a:r>
              <a:rPr b="1" lang="es-MX" sz="2100">
                <a:solidFill>
                  <a:srgbClr val="F2F2F2"/>
                </a:solidFill>
              </a:rPr>
              <a:t>Dinámica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F2F2F2"/>
                </a:solidFill>
              </a:rPr>
              <a:t>Nivel porcentual ajustado </a:t>
            </a:r>
            <a:r>
              <a:rPr lang="es-MX" sz="1800">
                <a:solidFill>
                  <a:srgbClr val="F2F2F2"/>
                </a:solidFill>
              </a:rPr>
              <a:t>según</a:t>
            </a:r>
            <a:r>
              <a:rPr lang="es-MX" sz="1800">
                <a:solidFill>
                  <a:srgbClr val="F2F2F2"/>
                </a:solidFill>
              </a:rPr>
              <a:t> el estado de los pacientes.</a:t>
            </a:r>
            <a:endParaRPr sz="18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8650" y="5430788"/>
            <a:ext cx="675175" cy="6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1020134" y="350076"/>
            <a:ext cx="45375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Módulo</a:t>
            </a: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 Backend: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El cerebro de  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54" name="Google Shape;154;p18" title="Logo final.png"/>
          <p:cNvPicPr preferRelativeResize="0"/>
          <p:nvPr/>
        </p:nvPicPr>
        <p:blipFill rotWithShape="1">
          <a:blip r:embed="rId3">
            <a:alphaModFix/>
          </a:blip>
          <a:srcRect b="29458" l="0" r="0" t="28607"/>
          <a:stretch/>
        </p:blipFill>
        <p:spPr>
          <a:xfrm>
            <a:off x="4955725" y="129212"/>
            <a:ext cx="4302999" cy="18043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  <p:grpSp>
        <p:nvGrpSpPr>
          <p:cNvPr id="155" name="Google Shape;155;p18"/>
          <p:cNvGrpSpPr/>
          <p:nvPr/>
        </p:nvGrpSpPr>
        <p:grpSpPr>
          <a:xfrm>
            <a:off x="6770547" y="2238329"/>
            <a:ext cx="2948421" cy="1636484"/>
            <a:chOff x="2292786" y="2076312"/>
            <a:chExt cx="3461400" cy="2638640"/>
          </a:xfrm>
        </p:grpSpPr>
        <p:sp>
          <p:nvSpPr>
            <p:cNvPr id="156" name="Google Shape;156;p18"/>
            <p:cNvSpPr/>
            <p:nvPr/>
          </p:nvSpPr>
          <p:spPr>
            <a:xfrm>
              <a:off x="2292786" y="2076312"/>
              <a:ext cx="3461400" cy="2587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" name="Google Shape;15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44069" y="2279349"/>
              <a:ext cx="493983" cy="551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8"/>
            <p:cNvSpPr/>
            <p:nvPr/>
          </p:nvSpPr>
          <p:spPr>
            <a:xfrm>
              <a:off x="2425098" y="2921552"/>
              <a:ext cx="3196800" cy="17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Ingesta y </a:t>
              </a:r>
              <a:r>
                <a:rPr b="1" lang="es-MX" sz="1000">
                  <a:solidFill>
                    <a:srgbClr val="434343"/>
                  </a:solidFill>
                </a:rPr>
                <a:t>Recuperación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Conexión</a:t>
              </a:r>
              <a:r>
                <a:rPr b="1" lang="es-MX" sz="1000">
                  <a:solidFill>
                    <a:srgbClr val="434343"/>
                  </a:solidFill>
                </a:rPr>
                <a:t> directa con datos mensuales del hospital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(Historial de 2024)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l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sz="2000">
                <a:solidFill>
                  <a:srgbClr val="F2F2F2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59" name="Google Shape;159;p18"/>
          <p:cNvGrpSpPr/>
          <p:nvPr/>
        </p:nvGrpSpPr>
        <p:grpSpPr>
          <a:xfrm>
            <a:off x="4275600" y="4172916"/>
            <a:ext cx="2948533" cy="1399810"/>
            <a:chOff x="9695500" y="1379674"/>
            <a:chExt cx="2049300" cy="2225100"/>
          </a:xfrm>
        </p:grpSpPr>
        <p:sp>
          <p:nvSpPr>
            <p:cNvPr id="160" name="Google Shape;160;p18"/>
            <p:cNvSpPr/>
            <p:nvPr/>
          </p:nvSpPr>
          <p:spPr>
            <a:xfrm>
              <a:off x="9695500" y="1379674"/>
              <a:ext cx="2049300" cy="2225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1" name="Google Shape;161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391184" y="1438741"/>
              <a:ext cx="540589" cy="8227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8"/>
            <p:cNvSpPr/>
            <p:nvPr/>
          </p:nvSpPr>
          <p:spPr>
            <a:xfrm>
              <a:off x="9776650" y="2261522"/>
              <a:ext cx="18870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Cálculo</a:t>
              </a:r>
              <a:r>
                <a:rPr b="1" lang="es-MX" sz="1000">
                  <a:solidFill>
                    <a:srgbClr val="434343"/>
                  </a:solidFill>
                </a:rPr>
                <a:t> Preciso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Compara indicadores clave con rangos saludables predefinidos.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63" name="Google Shape;163;p18"/>
          <p:cNvGrpSpPr/>
          <p:nvPr/>
        </p:nvGrpSpPr>
        <p:grpSpPr>
          <a:xfrm>
            <a:off x="2109600" y="2177500"/>
            <a:ext cx="2049300" cy="2196300"/>
            <a:chOff x="5173350" y="2030875"/>
            <a:chExt cx="2049300" cy="2196300"/>
          </a:xfrm>
        </p:grpSpPr>
        <p:sp>
          <p:nvSpPr>
            <p:cNvPr id="164" name="Google Shape;164;p18"/>
            <p:cNvSpPr/>
            <p:nvPr/>
          </p:nvSpPr>
          <p:spPr>
            <a:xfrm>
              <a:off x="5173350" y="2030875"/>
              <a:ext cx="2049300" cy="2196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5292300" y="2148838"/>
              <a:ext cx="18114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900">
                  <a:solidFill>
                    <a:srgbClr val="434343"/>
                  </a:solidFill>
                </a:rPr>
                <a:t>APP </a:t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  <p:pic>
          <p:nvPicPr>
            <p:cNvPr id="166" name="Google Shape;166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61272" y="2851300"/>
              <a:ext cx="719750" cy="719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33512" y="2737912"/>
              <a:ext cx="663325" cy="85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8"/>
            <p:cNvSpPr/>
            <p:nvPr/>
          </p:nvSpPr>
          <p:spPr>
            <a:xfrm>
              <a:off x="5838150" y="2967575"/>
              <a:ext cx="7197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2200">
                  <a:solidFill>
                    <a:srgbClr val="434343"/>
                  </a:solidFill>
                </a:rPr>
                <a:t>+</a:t>
              </a:r>
              <a:endParaRPr b="1" sz="22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4447224" y="2238365"/>
            <a:ext cx="1968158" cy="1636398"/>
            <a:chOff x="2962325" y="4923625"/>
            <a:chExt cx="3361500" cy="1001100"/>
          </a:xfrm>
        </p:grpSpPr>
        <p:sp>
          <p:nvSpPr>
            <p:cNvPr id="170" name="Google Shape;170;p18"/>
            <p:cNvSpPr/>
            <p:nvPr/>
          </p:nvSpPr>
          <p:spPr>
            <a:xfrm>
              <a:off x="2962325" y="4923625"/>
              <a:ext cx="3361500" cy="100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" name="Google Shape;171;p1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439620" y="5215842"/>
              <a:ext cx="2406943" cy="4166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18"/>
          <p:cNvGrpSpPr/>
          <p:nvPr/>
        </p:nvGrpSpPr>
        <p:grpSpPr>
          <a:xfrm>
            <a:off x="2109606" y="4522575"/>
            <a:ext cx="2049270" cy="1001100"/>
            <a:chOff x="4666900" y="4647475"/>
            <a:chExt cx="2508900" cy="1001100"/>
          </a:xfrm>
        </p:grpSpPr>
        <p:sp>
          <p:nvSpPr>
            <p:cNvPr id="173" name="Google Shape;173;p18"/>
            <p:cNvSpPr/>
            <p:nvPr/>
          </p:nvSpPr>
          <p:spPr>
            <a:xfrm>
              <a:off x="4666900" y="4647475"/>
              <a:ext cx="2508900" cy="100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5258625" y="4920963"/>
              <a:ext cx="18114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900">
                  <a:solidFill>
                    <a:srgbClr val="434343"/>
                  </a:solidFill>
                </a:rPr>
                <a:t>XGBoost</a:t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  <p:pic>
          <p:nvPicPr>
            <p:cNvPr id="175" name="Google Shape;175;p18"/>
            <p:cNvPicPr preferRelativeResize="0"/>
            <p:nvPr/>
          </p:nvPicPr>
          <p:blipFill>
            <a:blip r:embed="rId9">
              <a:alphaModFix amt="79000"/>
            </a:blip>
            <a:stretch>
              <a:fillRect/>
            </a:stretch>
          </p:blipFill>
          <p:spPr>
            <a:xfrm>
              <a:off x="4955725" y="4833999"/>
              <a:ext cx="543325" cy="5433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18"/>
          <p:cNvGrpSpPr/>
          <p:nvPr/>
        </p:nvGrpSpPr>
        <p:grpSpPr>
          <a:xfrm>
            <a:off x="7340825" y="4172916"/>
            <a:ext cx="2948533" cy="1399810"/>
            <a:chOff x="6756525" y="3450416"/>
            <a:chExt cx="2948533" cy="1399810"/>
          </a:xfrm>
        </p:grpSpPr>
        <p:grpSp>
          <p:nvGrpSpPr>
            <p:cNvPr id="177" name="Google Shape;177;p18"/>
            <p:cNvGrpSpPr/>
            <p:nvPr/>
          </p:nvGrpSpPr>
          <p:grpSpPr>
            <a:xfrm>
              <a:off x="6756525" y="3450416"/>
              <a:ext cx="2948533" cy="1399810"/>
              <a:chOff x="9695500" y="1379674"/>
              <a:chExt cx="2049300" cy="2225100"/>
            </a:xfrm>
          </p:grpSpPr>
          <p:sp>
            <p:nvSpPr>
              <p:cNvPr id="178" name="Google Shape;178;p18"/>
              <p:cNvSpPr/>
              <p:nvPr/>
            </p:nvSpPr>
            <p:spPr>
              <a:xfrm>
                <a:off x="9695500" y="1379674"/>
                <a:ext cx="2049300" cy="22251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8"/>
              <p:cNvSpPr/>
              <p:nvPr/>
            </p:nvSpPr>
            <p:spPr>
              <a:xfrm>
                <a:off x="9776644" y="2261500"/>
                <a:ext cx="1887000" cy="11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rPr b="1" lang="es-MX" sz="1000">
                    <a:solidFill>
                      <a:srgbClr val="434343"/>
                    </a:solidFill>
                  </a:rPr>
                  <a:t>Asignación</a:t>
                </a:r>
                <a:r>
                  <a:rPr b="1" lang="es-MX" sz="1000">
                    <a:solidFill>
                      <a:srgbClr val="434343"/>
                    </a:solidFill>
                  </a:rPr>
                  <a:t> Inteligente</a:t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rPr b="1" lang="es-MX" sz="1000">
                    <a:solidFill>
                      <a:srgbClr val="434343"/>
                    </a:solidFill>
                  </a:rPr>
                  <a:t>Priorización</a:t>
                </a:r>
                <a:r>
                  <a:rPr b="1" lang="es-MX" sz="1000">
                    <a:solidFill>
                      <a:srgbClr val="434343"/>
                    </a:solidFill>
                  </a:rPr>
                  <a:t> </a:t>
                </a:r>
                <a:r>
                  <a:rPr b="1" lang="es-MX" sz="1000">
                    <a:solidFill>
                      <a:srgbClr val="434343"/>
                    </a:solidFill>
                  </a:rPr>
                  <a:t>dinámica</a:t>
                </a:r>
                <a:r>
                  <a:rPr b="1" lang="es-MX" sz="1000">
                    <a:solidFill>
                      <a:srgbClr val="434343"/>
                    </a:solidFill>
                  </a:rPr>
                  <a:t> basada en el coeficiente de error.</a:t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t/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8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145">
                  <a:solidFill>
                    <a:srgbClr val="FFFFFF"/>
                  </a:solidFill>
                  <a:latin typeface="Aharoni"/>
                  <a:ea typeface="Aharoni"/>
                  <a:cs typeface="Aharoni"/>
                  <a:sym typeface="Aharoni"/>
                </a:endParaRPr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145">
                  <a:solidFill>
                    <a:srgbClr val="FFFFFF"/>
                  </a:solidFill>
                  <a:latin typeface="Aharoni"/>
                  <a:ea typeface="Aharoni"/>
                  <a:cs typeface="Aharoni"/>
                  <a:sym typeface="Aharoni"/>
                </a:endParaRPr>
              </a:p>
            </p:txBody>
          </p:sp>
        </p:grpSp>
        <p:pic>
          <p:nvPicPr>
            <p:cNvPr id="180" name="Google Shape;180;p1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039697" y="3593200"/>
              <a:ext cx="382175" cy="382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04100" y="317875"/>
            <a:ext cx="42339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Inteligencia Predictiva </a:t>
            </a:r>
            <a:endParaRPr sz="2900">
              <a:solidFill>
                <a:srgbClr val="F5F0F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9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con XGBoost</a:t>
            </a:r>
            <a:endParaRPr sz="2900">
              <a:solidFill>
                <a:srgbClr val="F5F0F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04100" y="1734975"/>
            <a:ext cx="61509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Nuestro modelo XGBoost predice la probabilidad de patologías. Ofrece una visión proactiva de la salud. Genera métricas clave para decisiones clínicas.</a:t>
            </a:r>
            <a:endParaRPr sz="1900">
              <a:solidFill>
                <a:srgbClr val="E2E6E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5F0F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2380" r="-2380" t="0"/>
          <a:stretch/>
        </p:blipFill>
        <p:spPr>
          <a:xfrm>
            <a:off x="504100" y="3295075"/>
            <a:ext cx="3167900" cy="1531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13" y="4539637"/>
            <a:ext cx="2732138" cy="574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92" y="5113650"/>
            <a:ext cx="3010200" cy="7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80220" y="3295075"/>
            <a:ext cx="3278617" cy="158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2775" y="4539625"/>
            <a:ext cx="3326449" cy="6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23175" y="5057875"/>
            <a:ext cx="2566225" cy="9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48841"/>
            <a:ext cx="12192000" cy="651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605"/>
            <a:ext cx="12192000" cy="6554391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725" y="4435325"/>
            <a:ext cx="5820125" cy="90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1357200" y="818275"/>
            <a:ext cx="46419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245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Una nueva era en la Salud</a:t>
            </a:r>
            <a:endParaRPr b="1" sz="4245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732750" y="3057000"/>
            <a:ext cx="5890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MediAnalytics es más que una herramienta. Es una plataforma para la atención médica del futuro. Los datos salvan vidas y optimizan recursos.</a:t>
            </a:r>
            <a:endParaRPr sz="1900">
              <a:solidFill>
                <a:srgbClr val="E2E6E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