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Play"/>
      <p:regular r:id="rId23"/>
      <p:bold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D5A68B-528D-4CC2-8B11-78B7B6BBD29F}">
  <a:tblStyle styleId="{A8D5A68B-528D-4CC2-8B11-78B7B6BBD29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confinder.com/search?q=find&amp;price=free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Celeste 1-4</a:t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/>
              <a:t>QUITAR TEXTO</a:t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7557c6b36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Kenyon 5 a 7 - 12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67557c6b36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b6a74ff39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random forest modelo mas normal ya que el anterior presentaba 91%, este modelo es mas realista </a:t>
            </a:r>
            <a:endParaRPr/>
          </a:p>
        </p:txBody>
      </p:sp>
      <p:sp>
        <p:nvSpPr>
          <p:cNvPr id="150" name="Google Shape;150;g36b6a74ff39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b6a74ff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6b6a74ff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7557c6b3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MOSTRAR APP</a:t>
            </a:r>
            <a:endParaRPr/>
          </a:p>
        </p:txBody>
      </p:sp>
      <p:sp>
        <p:nvSpPr>
          <p:cNvPr id="230" name="Google Shape;230;g367557c6b3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b6a74ff39_0_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MOSTRAR APP</a:t>
            </a:r>
            <a:endParaRPr/>
          </a:p>
        </p:txBody>
      </p:sp>
      <p:sp>
        <p:nvSpPr>
          <p:cNvPr id="237" name="Google Shape;237;g36b6a74ff39_0_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b6a74ff39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u="sng">
                <a:solidFill>
                  <a:schemeClr val="hlink"/>
                </a:solidFill>
                <a:hlinkClick r:id="rId2"/>
              </a:rPr>
              <a:t>https://www.iconfinder.com/search?q=find&amp;price=free</a:t>
            </a:r>
            <a:r>
              <a:rPr lang="es-MX"/>
              <a:t> objetivo: descongestionar el sistema de atención</a:t>
            </a:r>
            <a:endParaRPr/>
          </a:p>
        </p:txBody>
      </p:sp>
      <p:sp>
        <p:nvSpPr>
          <p:cNvPr id="245" name="Google Shape;245;g36b6a74ff39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b6a74ff39_0_4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252" name="Google Shape;252;g36b6a74ff39_0_4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2fd2d7c8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259" name="Google Shape;259;g362fd2d7c8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acd983631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acd98363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Kenyon</a:t>
            </a:r>
            <a:endParaRPr/>
          </a:p>
        </p:txBody>
      </p:sp>
      <p:sp>
        <p:nvSpPr>
          <p:cNvPr id="268" name="Google Shape;268;g36acd983631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2fd2d7c8e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62fd2d7c8e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Kenyon</a:t>
            </a:r>
            <a:endParaRPr/>
          </a:p>
        </p:txBody>
      </p:sp>
      <p:sp>
        <p:nvSpPr>
          <p:cNvPr id="278" name="Google Shape;278;g362fd2d7c8e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2fd2d7c8e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2fd2d7c8e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Kenyon</a:t>
            </a:r>
            <a:endParaRPr/>
          </a:p>
        </p:txBody>
      </p:sp>
      <p:sp>
        <p:nvSpPr>
          <p:cNvPr id="285" name="Google Shape;285;g362fd2d7c8e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76bacea04_0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Celeste Impacto nacional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Kenyon Atencion Eficaz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Matias Reduccion Mortalidad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Celeste Acortar Tiempos</a:t>
            </a:r>
            <a:endParaRPr/>
          </a:p>
        </p:txBody>
      </p:sp>
      <p:sp>
        <p:nvSpPr>
          <p:cNvPr id="292" name="Google Shape;292;g3676bacea04_0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76bacea04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676bacea04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4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3.pn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2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png"/><Relationship Id="rId4" Type="http://schemas.openxmlformats.org/officeDocument/2006/relationships/image" Target="../media/image16.png"/><Relationship Id="rId9" Type="http://schemas.openxmlformats.org/officeDocument/2006/relationships/image" Target="../media/image33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42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-46383"/>
            <a:ext cx="5683250" cy="6970643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00025" y="2161437"/>
            <a:ext cx="52833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3700" u="none" cap="none" strike="noStrik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Sistema Inteligente de Priorización de Pacientes</a:t>
            </a:r>
            <a:endParaRPr/>
          </a:p>
        </p:txBody>
      </p:sp>
      <p:pic>
        <p:nvPicPr>
          <p:cNvPr descr="Interfaz de usuario gráfica, Aplicación&#10;&#10;El contenido generado por IA puede ser incorrecto.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325" y="1118732"/>
            <a:ext cx="7054310" cy="482318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84225" y="4108956"/>
            <a:ext cx="491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Convertimos datos clínicos en decisiones estratégicas para hospitales públicos, priorizando a los pacientes más vulnerables y optimizando el uso de recursos limitados.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Datos que salvan vidas. Decisiones que hacen la diferencia.</a:t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00025" y="5817078"/>
            <a:ext cx="3479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María Celeste Vera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Kenyon Bustamante Ojeda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Mathias Valenzuela Alonso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title="Logo final.png"/>
          <p:cNvPicPr preferRelativeResize="0"/>
          <p:nvPr/>
        </p:nvPicPr>
        <p:blipFill rotWithShape="1">
          <a:blip r:embed="rId4">
            <a:alphaModFix/>
          </a:blip>
          <a:srcRect b="29458" l="0" r="0" t="28607"/>
          <a:stretch/>
        </p:blipFill>
        <p:spPr>
          <a:xfrm>
            <a:off x="690175" y="732150"/>
            <a:ext cx="4302999" cy="18043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500135" y="394197"/>
            <a:ext cx="45375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Contexto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953075" y="1729373"/>
            <a:ext cx="5631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>
                <a:solidFill>
                  <a:srgbClr val="F2F2F2"/>
                </a:solidFill>
              </a:rPr>
              <a:t>En el panorama actual de la salud pública en Chile, y específicamente en el hospital Dr Luis Calvo Mackenna, enfrentamos un desafío crítico en la gestión de pacientes. </a:t>
            </a:r>
            <a:endParaRPr sz="1700"/>
          </a:p>
        </p:txBody>
      </p:sp>
      <p:pic>
        <p:nvPicPr>
          <p:cNvPr descr="Hospital Dr. Luis Calvo Mackenna - Wikipedia, la enciclopedia libre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15213" r="0" t="0"/>
          <a:stretch/>
        </p:blipFill>
        <p:spPr>
          <a:xfrm>
            <a:off x="0" y="1"/>
            <a:ext cx="526773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3500" y="3504400"/>
            <a:ext cx="4350749" cy="29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-67725" y="4975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El contenido generado por IA puede ser incorrecto." id="109" name="Google Shape;10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57" y="189788"/>
            <a:ext cx="782860" cy="782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4104" y="0"/>
            <a:ext cx="4697896" cy="686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1703419" y="406817"/>
            <a:ext cx="4537628" cy="75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Desafío Actual</a:t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210925" y="1590125"/>
            <a:ext cx="6096000" cy="10677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Listas de espera prolongadas</a:t>
            </a:r>
            <a:r>
              <a:rPr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750">
                <a:solidFill>
                  <a:srgbClr val="E0D6DE"/>
                </a:solidFill>
              </a:rPr>
              <a:t>Los pacientes enfrentan demoras críticas para recibir atención médica.</a:t>
            </a:r>
            <a:endParaRPr sz="1750">
              <a:solidFill>
                <a:srgbClr val="E0D6D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2F2F2"/>
              </a:solidFill>
            </a:endParaRPr>
          </a:p>
        </p:txBody>
      </p:sp>
      <p:pic>
        <p:nvPicPr>
          <p:cNvPr descr="Icono&#10;&#10;El contenido generado por IA puede ser incorrecto.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070" y="1511305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1213950" y="3124192"/>
            <a:ext cx="6096000" cy="930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MX" sz="1600">
                <a:solidFill>
                  <a:srgbClr val="F2F2F2"/>
                </a:solidFill>
              </a:rPr>
              <a:t>Posibilidad de deterioro en la salud</a:t>
            </a: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50">
                <a:solidFill>
                  <a:srgbClr val="E0D6DE"/>
                </a:solidFill>
              </a:rPr>
              <a:t>Pacientes no atendidos oportunamente pueden empeorar su condición</a:t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1600">
                <a:solidFill>
                  <a:srgbClr val="F2F2F2"/>
                </a:solidFill>
              </a:rPr>
            </a:b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&#10;&#10;El contenido generado por IA puede ser incorrecto.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775" y="3124204"/>
            <a:ext cx="834015" cy="834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210925" y="4677000"/>
            <a:ext cx="6165900" cy="12000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2F2F2"/>
                </a:solidFill>
              </a:rPr>
              <a:t>Falta</a:t>
            </a: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1" lang="es-MX" sz="1600">
                <a:solidFill>
                  <a:srgbClr val="F2F2F2"/>
                </a:solidFill>
              </a:rPr>
              <a:t>r</a:t>
            </a: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ecursos en general: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750">
                <a:solidFill>
                  <a:srgbClr val="E0D6DE"/>
                </a:solidFill>
              </a:rPr>
              <a:t>Escasez de personal médico, restricciones presupuestarias e implementos </a:t>
            </a:r>
            <a:r>
              <a:rPr lang="es-MX" sz="1750">
                <a:solidFill>
                  <a:srgbClr val="E0D6DE"/>
                </a:solidFill>
              </a:rPr>
              <a:t>clínicos</a:t>
            </a:r>
            <a:r>
              <a:rPr lang="es-MX" sz="1750">
                <a:solidFill>
                  <a:srgbClr val="E0D6DE"/>
                </a:solidFill>
              </a:rPr>
              <a:t>.</a:t>
            </a:r>
            <a:endParaRPr sz="2100">
              <a:solidFill>
                <a:srgbClr val="F2F2F2"/>
              </a:solidFill>
            </a:endParaRPr>
          </a:p>
        </p:txBody>
      </p:sp>
      <p:pic>
        <p:nvPicPr>
          <p:cNvPr descr="Forma&#10;&#10;El contenido generado por IA puede ser incorrecto.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734" y="4772049"/>
            <a:ext cx="838911" cy="83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0" y="-276637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1885807" y="12"/>
            <a:ext cx="84204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9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Oportunidades </a:t>
            </a:r>
            <a:endParaRPr sz="39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046198" y="2716697"/>
            <a:ext cx="5631553" cy="871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2F2F2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125" name="Google Shape;125;p16"/>
          <p:cNvGraphicFramePr/>
          <p:nvPr/>
        </p:nvGraphicFramePr>
        <p:xfrm>
          <a:off x="2603221" y="14307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{A8D5A68B-528D-4CC2-8B11-78B7B6BBD29F}</a:tableStyleId>
              </a:tblPr>
              <a:tblGrid>
                <a:gridCol w="2637225"/>
                <a:gridCol w="4358475"/>
              </a:tblGrid>
              <a:tr h="49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Oportunidad 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Solución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97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Reducir la Subjetividad en las Decisiones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Estandarizar y objetivizar a cada paciente (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exámenes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médicos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para asegurar consistencia y equidad.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1478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Establecer Métricas Estandarizadas de Gravedad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Establecer parámetros unificados para evaluar la gravedad de los pacientes.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141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Aprovechar Datos Clínicos Inactivos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Procesar datos, 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mostrar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información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establecer </a:t>
                      </a:r>
                      <a:r>
                        <a:rPr b="1" lang="es-MX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métricas.</a:t>
                      </a:r>
                      <a:endParaRPr b="1"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</a:tbl>
          </a:graphicData>
        </a:graphic>
      </p:graphicFrame>
      <p:pic>
        <p:nvPicPr>
          <p:cNvPr descr="Forma&#10;&#10;El contenido generado por IA puede ser incorrecto.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975" y="1926534"/>
            <a:ext cx="859736" cy="859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9209" y="3025840"/>
            <a:ext cx="1167259" cy="11672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9725" y="4786464"/>
            <a:ext cx="726224" cy="72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10178595" y="1915984"/>
            <a:ext cx="937177" cy="880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1520" y="3087400"/>
            <a:ext cx="871330" cy="871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06205" y="4629394"/>
            <a:ext cx="797716" cy="797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7" title="Logo final.png"/>
          <p:cNvPicPr preferRelativeResize="0"/>
          <p:nvPr/>
        </p:nvPicPr>
        <p:blipFill rotWithShape="1">
          <a:blip r:embed="rId3">
            <a:alphaModFix/>
          </a:blip>
          <a:srcRect b="29458" l="0" r="0" t="28607"/>
          <a:stretch/>
        </p:blipFill>
        <p:spPr>
          <a:xfrm>
            <a:off x="352588" y="1672375"/>
            <a:ext cx="4609974" cy="19331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  <p:sp>
        <p:nvSpPr>
          <p:cNvPr id="138" name="Google Shape;138;p17"/>
          <p:cNvSpPr/>
          <p:nvPr/>
        </p:nvSpPr>
        <p:spPr>
          <a:xfrm>
            <a:off x="450925" y="764175"/>
            <a:ext cx="44133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245">
                <a:solidFill>
                  <a:srgbClr val="FFFFFF"/>
                </a:solidFill>
              </a:rPr>
              <a:t>¿Que es?</a:t>
            </a:r>
            <a:endParaRPr b="1" sz="4245">
              <a:solidFill>
                <a:srgbClr val="FFFFFF"/>
              </a:solidFill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50925" y="3605475"/>
            <a:ext cx="4980000" cy="20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2100">
                <a:solidFill>
                  <a:srgbClr val="F2F2F2"/>
                </a:solidFill>
              </a:rPr>
              <a:t>Sistema inteligente para transformar la gestión de pacientes, asegurando una priorización objetiva y eficiente en hospitales públicos. Impulsado por </a:t>
            </a:r>
            <a:r>
              <a:rPr lang="es-MX" sz="2100">
                <a:solidFill>
                  <a:srgbClr val="F2F2F2"/>
                </a:solidFill>
              </a:rPr>
              <a:t>análisis</a:t>
            </a:r>
            <a:r>
              <a:rPr lang="es-MX" sz="2100">
                <a:solidFill>
                  <a:srgbClr val="F2F2F2"/>
                </a:solidFill>
              </a:rPr>
              <a:t> de datos y Machine Learning.</a:t>
            </a:r>
            <a:endParaRPr sz="21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755150" y="531100"/>
            <a:ext cx="50775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Recopilación</a:t>
            </a:r>
            <a:r>
              <a:rPr b="1" lang="es-MX" sz="2100">
                <a:solidFill>
                  <a:srgbClr val="F2F2F2"/>
                </a:solidFill>
              </a:rPr>
              <a:t> de Datos </a:t>
            </a:r>
            <a:r>
              <a:rPr b="1" lang="es-MX" sz="2100">
                <a:solidFill>
                  <a:srgbClr val="F2F2F2"/>
                </a:solidFill>
              </a:rPr>
              <a:t>Clínicos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Ingesta ágil desde MongoDB, incluyendo exámenes vitales.</a:t>
            </a:r>
            <a:endParaRPr b="1" sz="20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025150" y="3655175"/>
            <a:ext cx="4537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Inteligencia predictiva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F2F2F2"/>
                </a:solidFill>
              </a:rPr>
              <a:t>Random forest</a:t>
            </a:r>
            <a:r>
              <a:rPr lang="es-MX" sz="1800">
                <a:solidFill>
                  <a:srgbClr val="F2F2F2"/>
                </a:solidFill>
              </a:rPr>
              <a:t> predice patologías y ofrece métricas proactivas de forma gráfica.</a:t>
            </a:r>
            <a:endParaRPr sz="18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650" y="578450"/>
            <a:ext cx="58102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8638" y="2374625"/>
            <a:ext cx="58102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6900775" y="2123300"/>
            <a:ext cx="50775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Coeficiente de Error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Algoritmo clave que cuantifica </a:t>
            </a: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desviación</a:t>
            </a: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de valores normales.</a:t>
            </a:r>
            <a:endParaRPr sz="30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9284" y="4080654"/>
            <a:ext cx="753916" cy="7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7177550" y="5026775"/>
            <a:ext cx="4537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Priorización</a:t>
            </a:r>
            <a:r>
              <a:rPr b="1" lang="es-MX" sz="2100">
                <a:solidFill>
                  <a:srgbClr val="F2F2F2"/>
                </a:solidFill>
              </a:rPr>
              <a:t> </a:t>
            </a:r>
            <a:r>
              <a:rPr b="1" lang="es-MX" sz="2100">
                <a:solidFill>
                  <a:srgbClr val="F2F2F2"/>
                </a:solidFill>
              </a:rPr>
              <a:t>Dinámica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F2F2F2"/>
                </a:solidFill>
              </a:rPr>
              <a:t>Nivel porcentual ajustado </a:t>
            </a:r>
            <a:r>
              <a:rPr lang="es-MX" sz="1800">
                <a:solidFill>
                  <a:srgbClr val="F2F2F2"/>
                </a:solidFill>
              </a:rPr>
              <a:t>según</a:t>
            </a:r>
            <a:r>
              <a:rPr lang="es-MX" sz="1800">
                <a:solidFill>
                  <a:srgbClr val="F2F2F2"/>
                </a:solidFill>
              </a:rPr>
              <a:t> el estado de los pacientes.</a:t>
            </a:r>
            <a:endParaRPr sz="18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8650" y="5430788"/>
            <a:ext cx="675175" cy="6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1413525" y="715987"/>
            <a:ext cx="43422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Tecnologías de:  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54" name="Google Shape;154;p18" title="Logo final.png"/>
          <p:cNvPicPr preferRelativeResize="0"/>
          <p:nvPr/>
        </p:nvPicPr>
        <p:blipFill rotWithShape="1">
          <a:blip r:embed="rId3">
            <a:alphaModFix/>
          </a:blip>
          <a:srcRect b="29458" l="0" r="0" t="28607"/>
          <a:stretch/>
        </p:blipFill>
        <p:spPr>
          <a:xfrm>
            <a:off x="4874550" y="135862"/>
            <a:ext cx="4302999" cy="18043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  <p:grpSp>
        <p:nvGrpSpPr>
          <p:cNvPr id="155" name="Google Shape;155;p18"/>
          <p:cNvGrpSpPr/>
          <p:nvPr/>
        </p:nvGrpSpPr>
        <p:grpSpPr>
          <a:xfrm>
            <a:off x="4997988" y="2314000"/>
            <a:ext cx="2049300" cy="2196300"/>
            <a:chOff x="5173350" y="2030875"/>
            <a:chExt cx="2049300" cy="2196300"/>
          </a:xfrm>
        </p:grpSpPr>
        <p:sp>
          <p:nvSpPr>
            <p:cNvPr id="156" name="Google Shape;156;p18"/>
            <p:cNvSpPr/>
            <p:nvPr/>
          </p:nvSpPr>
          <p:spPr>
            <a:xfrm>
              <a:off x="5173350" y="2030875"/>
              <a:ext cx="2049300" cy="2196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5292300" y="2148838"/>
              <a:ext cx="18114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900">
                  <a:solidFill>
                    <a:srgbClr val="434343"/>
                  </a:solidFill>
                </a:rPr>
                <a:t>APP </a:t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  <p:pic>
          <p:nvPicPr>
            <p:cNvPr id="158" name="Google Shape;15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61272" y="2851300"/>
              <a:ext cx="719750" cy="719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33512" y="2737912"/>
              <a:ext cx="663325" cy="85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8"/>
            <p:cNvSpPr/>
            <p:nvPr/>
          </p:nvSpPr>
          <p:spPr>
            <a:xfrm>
              <a:off x="5838150" y="2967575"/>
              <a:ext cx="7197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2200">
                  <a:solidFill>
                    <a:srgbClr val="434343"/>
                  </a:solidFill>
                </a:rPr>
                <a:t>+</a:t>
              </a:r>
              <a:endParaRPr b="1" sz="22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2811274" y="4205665"/>
            <a:ext cx="1968158" cy="1636398"/>
            <a:chOff x="2962325" y="4923625"/>
            <a:chExt cx="3361500" cy="1001100"/>
          </a:xfrm>
        </p:grpSpPr>
        <p:sp>
          <p:nvSpPr>
            <p:cNvPr id="162" name="Google Shape;162;p18"/>
            <p:cNvSpPr/>
            <p:nvPr/>
          </p:nvSpPr>
          <p:spPr>
            <a:xfrm>
              <a:off x="2962325" y="4923625"/>
              <a:ext cx="3361500" cy="100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3" name="Google Shape;163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39620" y="5215842"/>
              <a:ext cx="2406943" cy="4166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8"/>
          <p:cNvGrpSpPr/>
          <p:nvPr/>
        </p:nvGrpSpPr>
        <p:grpSpPr>
          <a:xfrm>
            <a:off x="4992550" y="4666675"/>
            <a:ext cx="2300400" cy="1141800"/>
            <a:chOff x="4395588" y="4424600"/>
            <a:chExt cx="2300400" cy="1141800"/>
          </a:xfrm>
        </p:grpSpPr>
        <p:sp>
          <p:nvSpPr>
            <p:cNvPr id="165" name="Google Shape;165;p18"/>
            <p:cNvSpPr/>
            <p:nvPr/>
          </p:nvSpPr>
          <p:spPr>
            <a:xfrm>
              <a:off x="4395588" y="4424600"/>
              <a:ext cx="2152200" cy="1141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4859388" y="4845200"/>
              <a:ext cx="18366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>
                  <a:solidFill>
                    <a:srgbClr val="434343"/>
                  </a:solidFill>
                </a:rPr>
                <a:t>RandomForest</a:t>
              </a:r>
              <a:endParaRPr b="1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2872124" y="2347315"/>
            <a:ext cx="1968300" cy="1636500"/>
            <a:chOff x="521349" y="1132790"/>
            <a:chExt cx="1968300" cy="1636500"/>
          </a:xfrm>
        </p:grpSpPr>
        <p:sp>
          <p:nvSpPr>
            <p:cNvPr id="168" name="Google Shape;168;p18"/>
            <p:cNvSpPr/>
            <p:nvPr/>
          </p:nvSpPr>
          <p:spPr>
            <a:xfrm>
              <a:off x="521349" y="1132790"/>
              <a:ext cx="1968300" cy="16365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9" name="Google Shape;169;p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47588" y="1550375"/>
              <a:ext cx="1915674" cy="8012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grpSp>
        <p:nvGrpSpPr>
          <p:cNvPr id="170" name="Google Shape;170;p18"/>
          <p:cNvGrpSpPr/>
          <p:nvPr/>
        </p:nvGrpSpPr>
        <p:grpSpPr>
          <a:xfrm>
            <a:off x="7333761" y="4469381"/>
            <a:ext cx="1756117" cy="1338984"/>
            <a:chOff x="1609874" y="4450365"/>
            <a:chExt cx="1968300" cy="1636500"/>
          </a:xfrm>
        </p:grpSpPr>
        <p:grpSp>
          <p:nvGrpSpPr>
            <p:cNvPr id="171" name="Google Shape;171;p18"/>
            <p:cNvGrpSpPr/>
            <p:nvPr/>
          </p:nvGrpSpPr>
          <p:grpSpPr>
            <a:xfrm>
              <a:off x="1609874" y="4450365"/>
              <a:ext cx="1968300" cy="1636500"/>
              <a:chOff x="188624" y="4013940"/>
              <a:chExt cx="1968300" cy="1636500"/>
            </a:xfrm>
          </p:grpSpPr>
          <p:sp>
            <p:nvSpPr>
              <p:cNvPr id="172" name="Google Shape;172;p18"/>
              <p:cNvSpPr/>
              <p:nvPr/>
            </p:nvSpPr>
            <p:spPr>
              <a:xfrm>
                <a:off x="188624" y="4013940"/>
                <a:ext cx="1968300" cy="1636500"/>
              </a:xfrm>
              <a:prstGeom prst="roundRect">
                <a:avLst>
                  <a:gd fmla="val 16667" name="adj"/>
                </a:avLst>
              </a:prstGeom>
              <a:solidFill>
                <a:srgbClr val="F2F2F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73" name="Google Shape;173;p18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59338" y="4047775"/>
                <a:ext cx="1226875" cy="1226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4" name="Google Shape;174;p18"/>
            <p:cNvSpPr/>
            <p:nvPr/>
          </p:nvSpPr>
          <p:spPr>
            <a:xfrm>
              <a:off x="1812600" y="5633797"/>
              <a:ext cx="1479600" cy="38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900">
                  <a:solidFill>
                    <a:srgbClr val="434343"/>
                  </a:solidFill>
                </a:rPr>
                <a:t>Ollama</a:t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7205022" y="2347324"/>
            <a:ext cx="2013600" cy="2003100"/>
            <a:chOff x="6722822" y="2157949"/>
            <a:chExt cx="2013600" cy="2003100"/>
          </a:xfrm>
        </p:grpSpPr>
        <p:sp>
          <p:nvSpPr>
            <p:cNvPr id="176" name="Google Shape;176;p18"/>
            <p:cNvSpPr/>
            <p:nvPr/>
          </p:nvSpPr>
          <p:spPr>
            <a:xfrm>
              <a:off x="6722822" y="2157949"/>
              <a:ext cx="2013600" cy="2003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6722830" y="2251485"/>
              <a:ext cx="17799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900">
                  <a:solidFill>
                    <a:srgbClr val="434343"/>
                  </a:solidFill>
                </a:rPr>
                <a:t>Librerías</a:t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  <p:pic>
          <p:nvPicPr>
            <p:cNvPr id="178" name="Google Shape;17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030" y="2295134"/>
              <a:ext cx="384688" cy="357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8"/>
            <p:cNvSpPr/>
            <p:nvPr/>
          </p:nvSpPr>
          <p:spPr>
            <a:xfrm>
              <a:off x="7103556" y="2754824"/>
              <a:ext cx="1252200" cy="12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MX" sz="1200">
                  <a:solidFill>
                    <a:srgbClr val="434343"/>
                  </a:solidFill>
                </a:rPr>
                <a:t>pymongo</a:t>
              </a:r>
              <a:endParaRPr b="1" sz="12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MX" sz="1200">
                  <a:solidFill>
                    <a:srgbClr val="434343"/>
                  </a:solidFill>
                </a:rPr>
                <a:t>numpy</a:t>
              </a:r>
              <a:endParaRPr b="1" sz="12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MX" sz="1200">
                  <a:solidFill>
                    <a:srgbClr val="434343"/>
                  </a:solidFill>
                </a:rPr>
                <a:t>pandas</a:t>
              </a:r>
              <a:endParaRPr b="1" sz="12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MX" sz="1200">
                  <a:solidFill>
                    <a:srgbClr val="434343"/>
                  </a:solidFill>
                </a:rPr>
                <a:t>Scikit-learn</a:t>
              </a:r>
              <a:endParaRPr b="1" sz="12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pic>
        <p:nvPicPr>
          <p:cNvPr id="180" name="Google Shape;180;p18"/>
          <p:cNvPicPr preferRelativeResize="0"/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>
            <a:off x="5073625" y="4915525"/>
            <a:ext cx="644100" cy="6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9"/>
          <p:cNvGrpSpPr/>
          <p:nvPr/>
        </p:nvGrpSpPr>
        <p:grpSpPr>
          <a:xfrm>
            <a:off x="9511650" y="1984239"/>
            <a:ext cx="2049300" cy="1491930"/>
            <a:chOff x="9695500" y="1379674"/>
            <a:chExt cx="2049300" cy="2225100"/>
          </a:xfrm>
        </p:grpSpPr>
        <p:sp>
          <p:nvSpPr>
            <p:cNvPr id="187" name="Google Shape;187;p19"/>
            <p:cNvSpPr/>
            <p:nvPr/>
          </p:nvSpPr>
          <p:spPr>
            <a:xfrm>
              <a:off x="9695500" y="1379674"/>
              <a:ext cx="2049300" cy="2225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8" name="Google Shape;188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391184" y="1438741"/>
              <a:ext cx="540589" cy="8227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9"/>
            <p:cNvSpPr/>
            <p:nvPr/>
          </p:nvSpPr>
          <p:spPr>
            <a:xfrm>
              <a:off x="9776650" y="2261522"/>
              <a:ext cx="18870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Cálculo Preciso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Compara indicadores clave con rangos saludables predefinidos.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90" name="Google Shape;190;p19"/>
          <p:cNvGrpSpPr/>
          <p:nvPr/>
        </p:nvGrpSpPr>
        <p:grpSpPr>
          <a:xfrm>
            <a:off x="6348290" y="4534855"/>
            <a:ext cx="2585863" cy="1201597"/>
            <a:chOff x="6424725" y="3865703"/>
            <a:chExt cx="2948533" cy="1399810"/>
          </a:xfrm>
        </p:grpSpPr>
        <p:grpSp>
          <p:nvGrpSpPr>
            <p:cNvPr id="191" name="Google Shape;191;p19"/>
            <p:cNvGrpSpPr/>
            <p:nvPr/>
          </p:nvGrpSpPr>
          <p:grpSpPr>
            <a:xfrm>
              <a:off x="6424725" y="3865703"/>
              <a:ext cx="2948533" cy="1399810"/>
              <a:chOff x="6850056" y="5151530"/>
              <a:chExt cx="2049300" cy="2225100"/>
            </a:xfrm>
          </p:grpSpPr>
          <p:sp>
            <p:nvSpPr>
              <p:cNvPr id="192" name="Google Shape;192;p19"/>
              <p:cNvSpPr/>
              <p:nvPr/>
            </p:nvSpPr>
            <p:spPr>
              <a:xfrm>
                <a:off x="6850056" y="5151530"/>
                <a:ext cx="2049300" cy="22251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9"/>
              <p:cNvSpPr/>
              <p:nvPr/>
            </p:nvSpPr>
            <p:spPr>
              <a:xfrm>
                <a:off x="6931200" y="6021574"/>
                <a:ext cx="1887000" cy="11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rPr b="1" lang="es-MX" sz="1000">
                    <a:solidFill>
                      <a:srgbClr val="434343"/>
                    </a:solidFill>
                  </a:rPr>
                  <a:t>Asignación Inteligente</a:t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rPr b="1" lang="es-MX" sz="1000">
                    <a:solidFill>
                      <a:srgbClr val="434343"/>
                    </a:solidFill>
                  </a:rPr>
                  <a:t>Priorización dinámica basada en el coeficiente de error.</a:t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t/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8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145">
                  <a:solidFill>
                    <a:srgbClr val="FFFFFF"/>
                  </a:solidFill>
                  <a:latin typeface="Aharoni"/>
                  <a:ea typeface="Aharoni"/>
                  <a:cs typeface="Aharoni"/>
                  <a:sym typeface="Aharoni"/>
                </a:endParaRPr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145">
                  <a:solidFill>
                    <a:srgbClr val="FFFFFF"/>
                  </a:solidFill>
                  <a:latin typeface="Aharoni"/>
                  <a:ea typeface="Aharoni"/>
                  <a:cs typeface="Aharoni"/>
                  <a:sym typeface="Aharoni"/>
                </a:endParaRPr>
              </a:p>
            </p:txBody>
          </p:sp>
        </p:grpSp>
        <p:pic>
          <p:nvPicPr>
            <p:cNvPr id="194" name="Google Shape;19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07897" y="3958638"/>
              <a:ext cx="382175" cy="382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19"/>
          <p:cNvSpPr/>
          <p:nvPr/>
        </p:nvSpPr>
        <p:spPr>
          <a:xfrm>
            <a:off x="1871175" y="539537"/>
            <a:ext cx="43422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Detrás de   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96" name="Google Shape;196;p19" title="Logo final.png"/>
          <p:cNvPicPr preferRelativeResize="0"/>
          <p:nvPr/>
        </p:nvPicPr>
        <p:blipFill rotWithShape="1">
          <a:blip r:embed="rId5">
            <a:alphaModFix/>
          </a:blip>
          <a:srcRect b="29458" l="0" r="0" t="28607"/>
          <a:stretch/>
        </p:blipFill>
        <p:spPr>
          <a:xfrm>
            <a:off x="4910800" y="174101"/>
            <a:ext cx="3949524" cy="1656151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  <p:sp>
        <p:nvSpPr>
          <p:cNvPr id="197" name="Google Shape;197;p19"/>
          <p:cNvSpPr/>
          <p:nvPr/>
        </p:nvSpPr>
        <p:spPr>
          <a:xfrm>
            <a:off x="748374" y="927197"/>
            <a:ext cx="1809600" cy="95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Proceso de orden de registros por mes</a:t>
            </a:r>
            <a:endParaRPr b="1">
              <a:solidFill>
                <a:srgbClr val="434343"/>
              </a:solidFill>
            </a:endParaRPr>
          </a:p>
        </p:txBody>
      </p:sp>
      <p:grpSp>
        <p:nvGrpSpPr>
          <p:cNvPr id="198" name="Google Shape;198;p19"/>
          <p:cNvGrpSpPr/>
          <p:nvPr/>
        </p:nvGrpSpPr>
        <p:grpSpPr>
          <a:xfrm>
            <a:off x="628525" y="2071388"/>
            <a:ext cx="2049300" cy="1250134"/>
            <a:chOff x="5173350" y="2030875"/>
            <a:chExt cx="2049300" cy="2196300"/>
          </a:xfrm>
        </p:grpSpPr>
        <p:sp>
          <p:nvSpPr>
            <p:cNvPr id="199" name="Google Shape;199;p19"/>
            <p:cNvSpPr/>
            <p:nvPr/>
          </p:nvSpPr>
          <p:spPr>
            <a:xfrm>
              <a:off x="5173350" y="2030875"/>
              <a:ext cx="2049300" cy="2196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5292300" y="2148838"/>
              <a:ext cx="18114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900">
                  <a:solidFill>
                    <a:srgbClr val="434343"/>
                  </a:solidFill>
                </a:rPr>
                <a:t>APP </a:t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  <p:pic>
          <p:nvPicPr>
            <p:cNvPr id="201" name="Google Shape;201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9375" y="2975599"/>
              <a:ext cx="467250" cy="66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1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82700" y="2872471"/>
              <a:ext cx="467249" cy="6934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19"/>
            <p:cNvSpPr/>
            <p:nvPr/>
          </p:nvSpPr>
          <p:spPr>
            <a:xfrm>
              <a:off x="5838150" y="2975613"/>
              <a:ext cx="7197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2200">
                  <a:solidFill>
                    <a:srgbClr val="434343"/>
                  </a:solidFill>
                </a:rPr>
                <a:t>+</a:t>
              </a:r>
              <a:endParaRPr b="1" sz="22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204" name="Google Shape;204;p19"/>
          <p:cNvGrpSpPr/>
          <p:nvPr/>
        </p:nvGrpSpPr>
        <p:grpSpPr>
          <a:xfrm>
            <a:off x="3680848" y="2194356"/>
            <a:ext cx="1968158" cy="1004203"/>
            <a:chOff x="592898" y="4673443"/>
            <a:chExt cx="1968158" cy="1004203"/>
          </a:xfrm>
        </p:grpSpPr>
        <p:grpSp>
          <p:nvGrpSpPr>
            <p:cNvPr id="205" name="Google Shape;205;p19"/>
            <p:cNvGrpSpPr/>
            <p:nvPr/>
          </p:nvGrpSpPr>
          <p:grpSpPr>
            <a:xfrm>
              <a:off x="592898" y="4673443"/>
              <a:ext cx="1968158" cy="1004203"/>
              <a:chOff x="2962325" y="4923625"/>
              <a:chExt cx="3361500" cy="1001100"/>
            </a:xfrm>
          </p:grpSpPr>
          <p:sp>
            <p:nvSpPr>
              <p:cNvPr id="206" name="Google Shape;206;p19"/>
              <p:cNvSpPr/>
              <p:nvPr/>
            </p:nvSpPr>
            <p:spPr>
              <a:xfrm>
                <a:off x="2962325" y="4923625"/>
                <a:ext cx="3361500" cy="10011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07" name="Google Shape;207;p19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439599" y="5320568"/>
                <a:ext cx="2406943" cy="4166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8" name="Google Shape;208;p19"/>
            <p:cNvSpPr txBox="1"/>
            <p:nvPr/>
          </p:nvSpPr>
          <p:spPr>
            <a:xfrm>
              <a:off x="910825" y="4720775"/>
              <a:ext cx="1332300" cy="2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300">
                  <a:solidFill>
                    <a:srgbClr val="434343"/>
                  </a:solidFill>
                </a:rPr>
                <a:t>Registros en</a:t>
              </a:r>
              <a:endParaRPr b="1" sz="1300">
                <a:solidFill>
                  <a:srgbClr val="434343"/>
                </a:solidFill>
              </a:endParaRPr>
            </a:p>
          </p:txBody>
        </p:sp>
      </p:grpSp>
      <p:cxnSp>
        <p:nvCxnSpPr>
          <p:cNvPr id="209" name="Google Shape;209;p19"/>
          <p:cNvCxnSpPr>
            <a:stCxn id="199" idx="3"/>
            <a:endCxn id="206" idx="1"/>
          </p:cNvCxnSpPr>
          <p:nvPr/>
        </p:nvCxnSpPr>
        <p:spPr>
          <a:xfrm>
            <a:off x="2677825" y="2696455"/>
            <a:ext cx="1002900" cy="0"/>
          </a:xfrm>
          <a:prstGeom prst="straightConnector1">
            <a:avLst/>
          </a:prstGeom>
          <a:noFill/>
          <a:ln cap="flat" cmpd="sng" w="28575">
            <a:solidFill>
              <a:srgbClr val="F2F2F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19"/>
          <p:cNvSpPr/>
          <p:nvPr/>
        </p:nvSpPr>
        <p:spPr>
          <a:xfrm>
            <a:off x="3760124" y="3733647"/>
            <a:ext cx="1809600" cy="95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Calculo de Coeficiente de Error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2523925" y="2132438"/>
            <a:ext cx="1265100" cy="47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rgbClr val="D9D9D9"/>
                </a:solidFill>
              </a:rPr>
              <a:t>Realiza consulta</a:t>
            </a:r>
            <a:endParaRPr b="1" sz="1100">
              <a:solidFill>
                <a:srgbClr val="D9D9D9"/>
              </a:solidFill>
            </a:endParaRPr>
          </a:p>
        </p:txBody>
      </p:sp>
      <p:cxnSp>
        <p:nvCxnSpPr>
          <p:cNvPr id="212" name="Google Shape;212;p19"/>
          <p:cNvCxnSpPr>
            <a:stCxn id="206" idx="2"/>
            <a:endCxn id="210" idx="0"/>
          </p:cNvCxnSpPr>
          <p:nvPr/>
        </p:nvCxnSpPr>
        <p:spPr>
          <a:xfrm>
            <a:off x="4664927" y="3198559"/>
            <a:ext cx="0" cy="535200"/>
          </a:xfrm>
          <a:prstGeom prst="straightConnector1">
            <a:avLst/>
          </a:prstGeom>
          <a:noFill/>
          <a:ln cap="flat" cmpd="sng" w="28575">
            <a:solidFill>
              <a:srgbClr val="F2F2F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19"/>
          <p:cNvSpPr/>
          <p:nvPr/>
        </p:nvSpPr>
        <p:spPr>
          <a:xfrm>
            <a:off x="669025" y="3654450"/>
            <a:ext cx="1968300" cy="110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Suma de valores fuera de rango dentro de los exámenes realizados</a:t>
            </a:r>
            <a:endParaRPr b="1">
              <a:solidFill>
                <a:srgbClr val="434343"/>
              </a:solidFill>
            </a:endParaRPr>
          </a:p>
        </p:txBody>
      </p:sp>
      <p:cxnSp>
        <p:nvCxnSpPr>
          <p:cNvPr id="214" name="Google Shape;214;p19"/>
          <p:cNvCxnSpPr>
            <a:stCxn id="210" idx="1"/>
            <a:endCxn id="213" idx="3"/>
          </p:cNvCxnSpPr>
          <p:nvPr/>
        </p:nvCxnSpPr>
        <p:spPr>
          <a:xfrm rot="10800000">
            <a:off x="2637224" y="4209297"/>
            <a:ext cx="1122900" cy="0"/>
          </a:xfrm>
          <a:prstGeom prst="straightConnector1">
            <a:avLst/>
          </a:prstGeom>
          <a:noFill/>
          <a:ln cap="flat" cmpd="sng" w="28575">
            <a:solidFill>
              <a:srgbClr val="F2F2F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19"/>
          <p:cNvSpPr txBox="1"/>
          <p:nvPr/>
        </p:nvSpPr>
        <p:spPr>
          <a:xfrm>
            <a:off x="2566125" y="3794520"/>
            <a:ext cx="1265100" cy="303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rgbClr val="D9D9D9"/>
                </a:solidFill>
              </a:rPr>
              <a:t>Que es?</a:t>
            </a:r>
            <a:endParaRPr b="1" sz="1100">
              <a:solidFill>
                <a:srgbClr val="D9D9D9"/>
              </a:solidFill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360175" y="5097075"/>
            <a:ext cx="2586000" cy="862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rgbClr val="D9D9D9"/>
                </a:solidFill>
              </a:rPr>
              <a:t>Según la OMS</a:t>
            </a:r>
            <a:endParaRPr b="1" sz="1100">
              <a:solidFill>
                <a:srgbClr val="D9D9D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rgbClr val="D9D9D9"/>
                </a:solidFill>
              </a:rPr>
              <a:t>los valores fuera de rango son los que están muy por debajo o por encima segun los parametros establecidos </a:t>
            </a:r>
            <a:endParaRPr b="1" sz="1100">
              <a:solidFill>
                <a:srgbClr val="D9D9D9"/>
              </a:solidFill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3680775" y="5290050"/>
            <a:ext cx="1968300" cy="95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Volumen de pacientes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800mil x mes aprox</a:t>
            </a:r>
            <a:endParaRPr b="1">
              <a:solidFill>
                <a:srgbClr val="434343"/>
              </a:solidFill>
            </a:endParaRPr>
          </a:p>
        </p:txBody>
      </p:sp>
      <p:cxnSp>
        <p:nvCxnSpPr>
          <p:cNvPr id="218" name="Google Shape;218;p19"/>
          <p:cNvCxnSpPr>
            <a:stCxn id="210" idx="2"/>
            <a:endCxn id="217" idx="0"/>
          </p:cNvCxnSpPr>
          <p:nvPr/>
        </p:nvCxnSpPr>
        <p:spPr>
          <a:xfrm>
            <a:off x="4664924" y="4684947"/>
            <a:ext cx="0" cy="605100"/>
          </a:xfrm>
          <a:prstGeom prst="straightConnector1">
            <a:avLst/>
          </a:prstGeom>
          <a:noFill/>
          <a:ln cap="flat" cmpd="sng" w="28575">
            <a:solidFill>
              <a:srgbClr val="D8D8D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19"/>
          <p:cNvSpPr txBox="1"/>
          <p:nvPr/>
        </p:nvSpPr>
        <p:spPr>
          <a:xfrm>
            <a:off x="4617573" y="4684950"/>
            <a:ext cx="1078800" cy="47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rgbClr val="D9D9D9"/>
                </a:solidFill>
              </a:rPr>
              <a:t>Toma valor máximo</a:t>
            </a:r>
            <a:endParaRPr b="1" sz="1100">
              <a:solidFill>
                <a:srgbClr val="D9D9D9"/>
              </a:solidFill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6213375" y="1927850"/>
            <a:ext cx="2855700" cy="160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Porcentaje de priorización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Max Coef Error → 100%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Registro individual int → x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434343"/>
                </a:solidFill>
              </a:rPr>
              <a:t>x = Priorización Individual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</p:txBody>
      </p:sp>
      <p:cxnSp>
        <p:nvCxnSpPr>
          <p:cNvPr id="221" name="Google Shape;221;p19"/>
          <p:cNvCxnSpPr>
            <a:stCxn id="217" idx="3"/>
          </p:cNvCxnSpPr>
          <p:nvPr/>
        </p:nvCxnSpPr>
        <p:spPr>
          <a:xfrm flipH="1" rot="10800000">
            <a:off x="5649075" y="3525900"/>
            <a:ext cx="696300" cy="2239800"/>
          </a:xfrm>
          <a:prstGeom prst="straightConnector1">
            <a:avLst/>
          </a:prstGeom>
          <a:noFill/>
          <a:ln cap="flat" cmpd="sng" w="28575">
            <a:solidFill>
              <a:srgbClr val="F2F2F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19"/>
          <p:cNvCxnSpPr>
            <a:stCxn id="220" idx="2"/>
            <a:endCxn id="192" idx="0"/>
          </p:cNvCxnSpPr>
          <p:nvPr/>
        </p:nvCxnSpPr>
        <p:spPr>
          <a:xfrm>
            <a:off x="7641225" y="3532550"/>
            <a:ext cx="0" cy="1002300"/>
          </a:xfrm>
          <a:prstGeom prst="straightConnector1">
            <a:avLst/>
          </a:prstGeom>
          <a:noFill/>
          <a:ln cap="flat" cmpd="sng" w="28575">
            <a:solidFill>
              <a:srgbClr val="F2F2F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3" name="Google Shape;223;p19"/>
          <p:cNvGrpSpPr/>
          <p:nvPr/>
        </p:nvGrpSpPr>
        <p:grpSpPr>
          <a:xfrm>
            <a:off x="9511663" y="4333300"/>
            <a:ext cx="2337600" cy="1604700"/>
            <a:chOff x="9306113" y="4185150"/>
            <a:chExt cx="2337600" cy="1604700"/>
          </a:xfrm>
        </p:grpSpPr>
        <p:sp>
          <p:nvSpPr>
            <p:cNvPr id="224" name="Google Shape;224;p19"/>
            <p:cNvSpPr/>
            <p:nvPr/>
          </p:nvSpPr>
          <p:spPr>
            <a:xfrm>
              <a:off x="9306113" y="4185150"/>
              <a:ext cx="2337600" cy="1604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434343"/>
                </a:solidFill>
              </a:endParaRPr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9469475" y="4262775"/>
              <a:ext cx="2010900" cy="53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>
                  <a:solidFill>
                    <a:srgbClr val="434343"/>
                  </a:solidFill>
                </a:rPr>
                <a:t>Dashboard Principal</a:t>
              </a:r>
              <a:endParaRPr b="1">
                <a:solidFill>
                  <a:srgbClr val="434343"/>
                </a:solidFill>
              </a:endParaRPr>
            </a:p>
          </p:txBody>
        </p:sp>
        <p:pic>
          <p:nvPicPr>
            <p:cNvPr id="226" name="Google Shape;226;p1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998663" y="4684950"/>
              <a:ext cx="952500" cy="9525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27" name="Google Shape;227;p19"/>
          <p:cNvCxnSpPr>
            <a:stCxn id="192" idx="3"/>
            <a:endCxn id="224" idx="1"/>
          </p:cNvCxnSpPr>
          <p:nvPr/>
        </p:nvCxnSpPr>
        <p:spPr>
          <a:xfrm>
            <a:off x="8934153" y="5135654"/>
            <a:ext cx="577500" cy="0"/>
          </a:xfrm>
          <a:prstGeom prst="straightConnector1">
            <a:avLst/>
          </a:prstGeom>
          <a:noFill/>
          <a:ln cap="flat" cmpd="sng" w="28575">
            <a:solidFill>
              <a:srgbClr val="F2F2F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7175" y="432925"/>
            <a:ext cx="3929175" cy="589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title="Logo final.png"/>
          <p:cNvPicPr preferRelativeResize="0"/>
          <p:nvPr/>
        </p:nvPicPr>
        <p:blipFill rotWithShape="1">
          <a:blip r:embed="rId4">
            <a:alphaModFix/>
          </a:blip>
          <a:srcRect b="29458" l="0" r="0" t="28607"/>
          <a:stretch/>
        </p:blipFill>
        <p:spPr>
          <a:xfrm>
            <a:off x="740900" y="2081369"/>
            <a:ext cx="6427551" cy="269525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162900" y="344662"/>
            <a:ext cx="43422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MX"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Ventana principal</a:t>
            </a:r>
            <a:endParaRPr sz="4450">
              <a:solidFill>
                <a:srgbClr val="97B8F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41" name="Google Shape;241;p21" title="Logo final.png"/>
          <p:cNvPicPr preferRelativeResize="0"/>
          <p:nvPr/>
        </p:nvPicPr>
        <p:blipFill rotWithShape="1">
          <a:blip r:embed="rId3">
            <a:alphaModFix/>
          </a:blip>
          <a:srcRect b="29458" l="0" r="0" t="28607"/>
          <a:stretch/>
        </p:blipFill>
        <p:spPr>
          <a:xfrm>
            <a:off x="6735307" y="121688"/>
            <a:ext cx="2269043" cy="9514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  <p:pic>
        <p:nvPicPr>
          <p:cNvPr id="242" name="Google Shape;2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675" y="988750"/>
            <a:ext cx="11766652" cy="576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50">
              <a:solidFill>
                <a:srgbClr val="97B8FF"/>
              </a:solidFill>
            </a:endParaRPr>
          </a:p>
        </p:txBody>
      </p:sp>
      <p:pic>
        <p:nvPicPr>
          <p:cNvPr id="248" name="Google Shape;2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12" y="1247200"/>
            <a:ext cx="11733923" cy="4840401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3440847" y="320475"/>
            <a:ext cx="53103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MX"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Dashboards por Random forest</a:t>
            </a:r>
            <a:endParaRPr sz="4450">
              <a:solidFill>
                <a:srgbClr val="97B8F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50">
              <a:solidFill>
                <a:srgbClr val="97B8FF"/>
              </a:solidFill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3250847" y="143800"/>
            <a:ext cx="53103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MX"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Dashboards por Random forest</a:t>
            </a:r>
            <a:endParaRPr sz="4450">
              <a:solidFill>
                <a:srgbClr val="97B8F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56" name="Google Shape;2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637" y="1469824"/>
            <a:ext cx="11406725" cy="42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50">
              <a:solidFill>
                <a:srgbClr val="97B8FF"/>
              </a:solidFill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3250847" y="143800"/>
            <a:ext cx="53103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MX"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Dashboards por Random forest</a:t>
            </a:r>
            <a:endParaRPr sz="4450">
              <a:solidFill>
                <a:srgbClr val="97B8F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575" y="3394225"/>
            <a:ext cx="10502023" cy="337405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</p:pic>
      <p:pic>
        <p:nvPicPr>
          <p:cNvPr id="264" name="Google Shape;26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700" y="708750"/>
            <a:ext cx="9963774" cy="2612575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50">
              <a:solidFill>
                <a:srgbClr val="97B8FF"/>
              </a:solidFill>
            </a:endParaRPr>
          </a:p>
        </p:txBody>
      </p:sp>
      <p:sp>
        <p:nvSpPr>
          <p:cNvPr id="271" name="Google Shape;271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5"/>
          <p:cNvPicPr preferRelativeResize="0"/>
          <p:nvPr/>
        </p:nvPicPr>
        <p:blipFill rotWithShape="1">
          <a:blip r:embed="rId3">
            <a:alphaModFix/>
          </a:blip>
          <a:srcRect b="0" l="1651" r="2323" t="0"/>
          <a:stretch/>
        </p:blipFill>
        <p:spPr>
          <a:xfrm>
            <a:off x="-902750" y="-47750"/>
            <a:ext cx="76151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6602" y="-142100"/>
            <a:ext cx="550984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50">
              <a:solidFill>
                <a:srgbClr val="97B8FF"/>
              </a:solidFill>
            </a:endParaRPr>
          </a:p>
        </p:txBody>
      </p:sp>
      <p:pic>
        <p:nvPicPr>
          <p:cNvPr id="281" name="Google Shape;2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646" y="-32700"/>
            <a:ext cx="6100707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50">
              <a:solidFill>
                <a:srgbClr val="97B8FF"/>
              </a:solidFill>
            </a:endParaRPr>
          </a:p>
        </p:txBody>
      </p:sp>
      <p:pic>
        <p:nvPicPr>
          <p:cNvPr id="288" name="Google Shape;2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56" y="0"/>
            <a:ext cx="5992739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000" y="1598413"/>
            <a:ext cx="5879750" cy="3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605"/>
            <a:ext cx="12192000" cy="6554391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</p:pic>
      <p:pic>
        <p:nvPicPr>
          <p:cNvPr id="296" name="Google Shape;29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725" y="4435325"/>
            <a:ext cx="5820125" cy="90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/>
          <p:nvPr/>
        </p:nvSpPr>
        <p:spPr>
          <a:xfrm>
            <a:off x="1357200" y="818275"/>
            <a:ext cx="46419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245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Una nueva era en la Salud</a:t>
            </a:r>
            <a:endParaRPr b="1" sz="4245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732750" y="3057000"/>
            <a:ext cx="5890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MediAnalytics es más que una herramienta. Es una plataforma para la atención médica del futuro. Los datos salvan vidas y optimizan recursos.</a:t>
            </a:r>
            <a:endParaRPr sz="1900">
              <a:solidFill>
                <a:srgbClr val="E2E6E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